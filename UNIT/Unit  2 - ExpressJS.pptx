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3"/>
  </p:notesMasterIdLst>
  <p:sldIdLst>
    <p:sldId id="308" r:id="rId2"/>
    <p:sldId id="352" r:id="rId3"/>
    <p:sldId id="386" r:id="rId4"/>
    <p:sldId id="387" r:id="rId5"/>
    <p:sldId id="388" r:id="rId6"/>
    <p:sldId id="389" r:id="rId7"/>
    <p:sldId id="390" r:id="rId8"/>
    <p:sldId id="391" r:id="rId9"/>
    <p:sldId id="430" r:id="rId10"/>
    <p:sldId id="395" r:id="rId11"/>
    <p:sldId id="396" r:id="rId12"/>
    <p:sldId id="397" r:id="rId13"/>
    <p:sldId id="398" r:id="rId14"/>
    <p:sldId id="399" r:id="rId15"/>
    <p:sldId id="400" r:id="rId16"/>
    <p:sldId id="401" r:id="rId17"/>
    <p:sldId id="402" r:id="rId18"/>
    <p:sldId id="403" r:id="rId19"/>
    <p:sldId id="405" r:id="rId20"/>
    <p:sldId id="406" r:id="rId21"/>
    <p:sldId id="407" r:id="rId22"/>
    <p:sldId id="424" r:id="rId23"/>
    <p:sldId id="408" r:id="rId24"/>
    <p:sldId id="409" r:id="rId25"/>
    <p:sldId id="410" r:id="rId26"/>
    <p:sldId id="411" r:id="rId27"/>
    <p:sldId id="431" r:id="rId28"/>
    <p:sldId id="412" r:id="rId29"/>
    <p:sldId id="413" r:id="rId30"/>
    <p:sldId id="414" r:id="rId31"/>
    <p:sldId id="415" r:id="rId32"/>
    <p:sldId id="416" r:id="rId33"/>
    <p:sldId id="417" r:id="rId34"/>
    <p:sldId id="418" r:id="rId35"/>
    <p:sldId id="423" r:id="rId36"/>
    <p:sldId id="426" r:id="rId37"/>
    <p:sldId id="425" r:id="rId38"/>
    <p:sldId id="427" r:id="rId39"/>
    <p:sldId id="428" r:id="rId40"/>
    <p:sldId id="421" r:id="rId41"/>
    <p:sldId id="429" r:id="rId42"/>
  </p:sldIdLst>
  <p:sldSz cx="12192000" cy="6858000"/>
  <p:notesSz cx="6858000" cy="9144000"/>
  <p:embeddedFontLst>
    <p:embeddedFont>
      <p:font typeface="Roboto Condensed" panose="02000000000000000000" pitchFamily="2" charset="0"/>
      <p:regular r:id="rId44"/>
      <p:bold r:id="rId45"/>
      <p:italic r:id="rId46"/>
      <p:boldItalic r:id="rId47"/>
    </p:embeddedFont>
    <p:embeddedFont>
      <p:font typeface="Wingdings 3" panose="05040102010807070707" pitchFamily="18" charset="2"/>
      <p:regular r:id="rId48"/>
    </p:embeddedFont>
    <p:embeddedFont>
      <p:font typeface="Wingdings 2" panose="05020102010507070707" pitchFamily="18" charset="2"/>
      <p:regular r:id="rId49"/>
    </p:embeddedFont>
    <p:embeddedFont>
      <p:font typeface="Roboto Condensed Light" panose="02000000000000000000" pitchFamily="2" charset="0"/>
      <p:regular r:id="rId50"/>
      <p:italic r:id="rId51"/>
    </p:embeddedFont>
    <p:embeddedFont>
      <p:font typeface="Segoe UI Black" panose="020B0A02040204020203" pitchFamily="34" charset="0"/>
      <p:bold r:id="rId52"/>
      <p:boldItalic r:id="rId53"/>
    </p:embeddedFont>
    <p:embeddedFont>
      <p:font typeface="Arial Unicode MS" panose="020B0604020202020204" charset="-128"/>
      <p:regular r:id="rId54"/>
    </p:embeddedFont>
    <p:embeddedFont>
      <p:font typeface="Calibri" panose="020F0502020204030204" pitchFamily="34" charset="0"/>
      <p:regular r:id="rId55"/>
      <p:bold r:id="rId56"/>
      <p:italic r:id="rId57"/>
      <p:boldItalic r:id="rId58"/>
    </p:embeddedFont>
    <p:embeddedFont>
      <p:font typeface="Consolas" panose="020B0609020204030204" pitchFamily="49" charset="0"/>
      <p:regular r:id="rId59"/>
      <p:bold r:id="rId60"/>
      <p:italic r:id="rId61"/>
      <p:boldItalic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zd/WE4vnrm/+3ioc8/rUyg==" hashData="OvSPEBgQteg9t1aQsZ4dPA7PRlJ1qTukG5AekTdWR+oOTi/QJOj+TfBFFxH7rwanzzAjds0lTUfohqySmZCENw=="/>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24F"/>
    <a:srgbClr val="301B92"/>
    <a:srgbClr val="673BB7"/>
    <a:srgbClr val="607D8B"/>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6404" autoAdjust="0"/>
  </p:normalViewPr>
  <p:slideViewPr>
    <p:cSldViewPr snapToGrid="0">
      <p:cViewPr varScale="1">
        <p:scale>
          <a:sx n="79" d="100"/>
          <a:sy n="79" d="100"/>
        </p:scale>
        <p:origin x="96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font" Target="fonts/font15.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font" Target="fonts/font13.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62"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font" Target="fonts/font17.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3.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ExpressJS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Samir R. Kariya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2401CS491</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02 –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ExpressJS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ExpressJS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ExpressJS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ExpressJS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2305CS203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03 –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ExpressJS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1057608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1/27/2026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localhost:3000/"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samir.kariya@darshan.ac.in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9427148490</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Samir R. Kariya</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Web Technology - II (WT-II) </a:t>
            </a:r>
          </a:p>
          <a:p>
            <a:r>
              <a:rPr lang="en-IN" dirty="0"/>
              <a:t>(</a:t>
            </a:r>
            <a:r>
              <a:rPr lang="en-US" dirty="0"/>
              <a:t>2401CS491</a:t>
            </a:r>
            <a:r>
              <a:rPr lang="en-IN" dirty="0"/>
              <a:t>)</a:t>
            </a:r>
            <a:endParaRPr lang="en-US" dirty="0"/>
          </a:p>
        </p:txBody>
      </p:sp>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4800" b="0" dirty="0">
                <a:latin typeface="Roboto Condensed Light" panose="02000000000000000000" pitchFamily="2" charset="0"/>
                <a:ea typeface="Roboto Condensed Light" panose="02000000000000000000" pitchFamily="2" charset="0"/>
              </a:rPr>
              <a:t>Unit-02</a:t>
            </a:r>
            <a:r>
              <a:rPr lang="en-US" dirty="0"/>
              <a:t> </a:t>
            </a:r>
            <a:br>
              <a:rPr lang="en-US" dirty="0"/>
            </a:br>
            <a:r>
              <a:rPr lang="en-US" dirty="0" err="1"/>
              <a:t>ExpressJS</a:t>
            </a:r>
            <a:endParaRPr lang="en-US" dirty="0"/>
          </a:p>
        </p:txBody>
      </p:sp>
      <p:pic>
        <p:nvPicPr>
          <p:cNvPr id="2056" name="Picture 8" descr="professional-web-design-social-ink-professional-web-design-png-1000_813 -  Norderberg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8716" y="1888402"/>
            <a:ext cx="3763634" cy="305983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9D350F56-BCA4-323B-53BE-F7036767F276}"/>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6520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1969770"/>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sz="2000" dirty="0" err="1"/>
              <a:t>ExpressJS</a:t>
            </a:r>
            <a:endParaRPr lang="en-US" sz="2000" dirty="0"/>
          </a:p>
          <a:p>
            <a:pPr indent="446088">
              <a:buFont typeface="Wingdings" pitchFamily="2" charset="2"/>
              <a:buChar char="ü"/>
            </a:pPr>
            <a:r>
              <a:rPr lang="en-US" sz="2000" dirty="0"/>
              <a:t>Serving Static Resources</a:t>
            </a:r>
          </a:p>
          <a:p>
            <a:pPr indent="446088">
              <a:buFont typeface="Wingdings" pitchFamily="2" charset="2"/>
              <a:buChar char="ü"/>
            </a:pPr>
            <a:r>
              <a:rPr lang="en-US" sz="2000" dirty="0"/>
              <a:t>Database Connectivity</a:t>
            </a:r>
          </a:p>
          <a:p>
            <a:pPr indent="446088">
              <a:buFont typeface="Wingdings" pitchFamily="2" charset="2"/>
              <a:buChar char="ü"/>
            </a:pPr>
            <a:r>
              <a:rPr lang="en-US" sz="2000" dirty="0"/>
              <a:t>API Using NodeJS and </a:t>
            </a:r>
            <a:r>
              <a:rPr lang="en-US" sz="2000" dirty="0" err="1"/>
              <a:t>ExpressJS</a:t>
            </a:r>
            <a:endParaRPr lang="en-US" sz="2000" dirty="0"/>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ExpressJS</a:t>
            </a:r>
            <a:endParaRPr lang="en-US" dirty="0"/>
          </a:p>
        </p:txBody>
      </p:sp>
      <p:sp>
        <p:nvSpPr>
          <p:cNvPr id="3" name="Content Placeholder 2"/>
          <p:cNvSpPr>
            <a:spLocks noGrp="1"/>
          </p:cNvSpPr>
          <p:nvPr>
            <p:ph idx="1"/>
          </p:nvPr>
        </p:nvSpPr>
        <p:spPr/>
        <p:txBody>
          <a:bodyPr/>
          <a:lstStyle/>
          <a:p>
            <a:r>
              <a:rPr lang="en-US" altLang="en-US" dirty="0"/>
              <a:t>Express </a:t>
            </a:r>
            <a:r>
              <a:rPr lang="en-US" altLang="en-US" dirty="0" err="1"/>
              <a:t>js</a:t>
            </a:r>
            <a:r>
              <a:rPr lang="en-US" altLang="en-US" dirty="0"/>
              <a:t> is a very popular web application framework built to create Node.js Web based applications. </a:t>
            </a:r>
          </a:p>
          <a:p>
            <a:r>
              <a:rPr lang="en-US" altLang="en-US" dirty="0"/>
              <a:t>It provides an integrated environment to facilitate rapid development of Node based Web applications.</a:t>
            </a:r>
          </a:p>
          <a:p>
            <a:r>
              <a:rPr lang="en-US" altLang="en-US" dirty="0"/>
              <a:t>Express framework is based on Connect middleware engine and used Jade html template framework for HTML </a:t>
            </a:r>
            <a:r>
              <a:rPr lang="en-US" altLang="en-US" dirty="0" err="1"/>
              <a:t>templating</a:t>
            </a:r>
            <a:r>
              <a:rPr lang="en-US" altLang="en-US" dirty="0"/>
              <a:t>.</a:t>
            </a:r>
          </a:p>
          <a:p>
            <a:r>
              <a:rPr lang="en-US" altLang="en-US" dirty="0"/>
              <a:t>Core features of Express framework:</a:t>
            </a:r>
          </a:p>
          <a:p>
            <a:pPr lvl="1"/>
            <a:r>
              <a:rPr lang="en-US" altLang="en-US" dirty="0"/>
              <a:t>Allows to set up </a:t>
            </a:r>
            <a:r>
              <a:rPr lang="en-US" altLang="en-US" dirty="0" err="1"/>
              <a:t>middlewares</a:t>
            </a:r>
            <a:r>
              <a:rPr lang="en-US" altLang="en-US" dirty="0"/>
              <a:t> to respond to HTTP Requests.</a:t>
            </a:r>
          </a:p>
          <a:p>
            <a:pPr lvl="1"/>
            <a:r>
              <a:rPr lang="en-US" altLang="en-US" dirty="0"/>
              <a:t>Defines a routing table which is used to perform different action based on HTTP method and URL.</a:t>
            </a:r>
          </a:p>
          <a:p>
            <a:pPr lvl="1"/>
            <a:r>
              <a:rPr lang="en-US" altLang="en-US" dirty="0"/>
              <a:t>Allows to dynamically render HTML Pages based on passing arguments to templates.</a:t>
            </a:r>
          </a:p>
          <a:p>
            <a:r>
              <a:rPr lang="en-US" dirty="0"/>
              <a:t>Installing Express</a:t>
            </a:r>
          </a:p>
        </p:txBody>
      </p:sp>
      <p:sp>
        <p:nvSpPr>
          <p:cNvPr id="4" name="Rectangle 3">
            <a:extLst>
              <a:ext uri="{FF2B5EF4-FFF2-40B4-BE49-F238E27FC236}">
                <a16:creationId xmlns:a16="http://schemas.microsoft.com/office/drawing/2014/main" id="{D456EBDA-49A4-A843-A786-6989C63A54AA}"/>
              </a:ext>
            </a:extLst>
          </p:cNvPr>
          <p:cNvSpPr/>
          <p:nvPr/>
        </p:nvSpPr>
        <p:spPr>
          <a:xfrm>
            <a:off x="536419" y="5103404"/>
            <a:ext cx="5253475" cy="338554"/>
          </a:xfrm>
          <a:prstGeom prst="rect">
            <a:avLst/>
          </a:prstGeom>
          <a:solidFill>
            <a:schemeClr val="tx1"/>
          </a:solidFill>
          <a:ln>
            <a:noFill/>
          </a:ln>
        </p:spPr>
        <p:txBody>
          <a:bodyPr wrap="square">
            <a:spAutoFit/>
          </a:bodyPr>
          <a:lstStyle/>
          <a:p>
            <a:r>
              <a:rPr lang="en-US" sz="1600" b="1" dirty="0" err="1">
                <a:solidFill>
                  <a:schemeClr val="bg1"/>
                </a:solidFill>
                <a:latin typeface="Consolas" panose="020B0609020204030204" pitchFamily="49" charset="0"/>
              </a:rPr>
              <a:t>npm</a:t>
            </a:r>
            <a:r>
              <a:rPr lang="en-US" sz="1600" b="1" dirty="0">
                <a:solidFill>
                  <a:schemeClr val="bg1"/>
                </a:solidFill>
                <a:latin typeface="Consolas" panose="020B0609020204030204" pitchFamily="49" charset="0"/>
              </a:rPr>
              <a:t> install express</a:t>
            </a:r>
            <a:endParaRPr lang="en-US" sz="1600" b="1" dirty="0">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153393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web app with Express</a:t>
            </a:r>
          </a:p>
        </p:txBody>
      </p:sp>
      <p:sp>
        <p:nvSpPr>
          <p:cNvPr id="4" name="Rectangle 3">
            <a:extLst>
              <a:ext uri="{FF2B5EF4-FFF2-40B4-BE49-F238E27FC236}">
                <a16:creationId xmlns:a16="http://schemas.microsoft.com/office/drawing/2014/main" id="{D456EBDA-49A4-A843-A786-6989C63A54AA}"/>
              </a:ext>
            </a:extLst>
          </p:cNvPr>
          <p:cNvSpPr/>
          <p:nvPr/>
        </p:nvSpPr>
        <p:spPr>
          <a:xfrm>
            <a:off x="875360" y="1329528"/>
            <a:ext cx="7837319" cy="2554545"/>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express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'express'</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app</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express</a:t>
            </a:r>
            <a:r>
              <a:rPr lang="en-US" sz="1600" dirty="0">
                <a:solidFill>
                  <a:srgbClr val="000000"/>
                </a:solidFill>
                <a:latin typeface="Consolas" panose="020B0609020204030204" pitchFamily="49" charset="0"/>
              </a:rPr>
              <a:t>();</a:t>
            </a:r>
          </a:p>
          <a:p>
            <a:endParaRPr lang="en-US" sz="1600" dirty="0">
              <a:solidFill>
                <a:srgbClr val="000000"/>
              </a:solidFill>
              <a:latin typeface="Consolas" panose="020B0609020204030204" pitchFamily="49" charset="0"/>
            </a:endParaRPr>
          </a:p>
          <a:p>
            <a:r>
              <a:rPr lang="en-US" sz="1600" dirty="0" err="1">
                <a:solidFill>
                  <a:srgbClr val="001080"/>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get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'Hello World!'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endParaRPr lang="en-US" sz="1600" dirty="0">
              <a:solidFill>
                <a:srgbClr val="001080"/>
              </a:solidFill>
              <a:latin typeface="Consolas" panose="020B0609020204030204" pitchFamily="49" charset="0"/>
            </a:endParaRPr>
          </a:p>
          <a:p>
            <a:r>
              <a:rPr lang="en-US" sz="1600" dirty="0" err="1">
                <a:solidFill>
                  <a:srgbClr val="001080"/>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listen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3000</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'app.js listening to http://localhost:3000/'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375367" y="1329528"/>
            <a:ext cx="499993" cy="255454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375367" y="1000344"/>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
        <p:nvSpPr>
          <p:cNvPr id="7" name="Content Placeholder 2"/>
          <p:cNvSpPr>
            <a:spLocks noGrp="1"/>
          </p:cNvSpPr>
          <p:nvPr>
            <p:ph idx="1"/>
          </p:nvPr>
        </p:nvSpPr>
        <p:spPr>
          <a:xfrm>
            <a:off x="131180" y="4011283"/>
            <a:ext cx="11929641" cy="2442726"/>
          </a:xfrm>
        </p:spPr>
        <p:txBody>
          <a:bodyPr/>
          <a:lstStyle/>
          <a:p>
            <a:r>
              <a:rPr lang="en-US" altLang="en-US" dirty="0"/>
              <a:t>To run the file we will use following command</a:t>
            </a:r>
          </a:p>
          <a:p>
            <a:endParaRPr lang="en-US" altLang="en-US" dirty="0"/>
          </a:p>
          <a:p>
            <a:r>
              <a:rPr lang="en-US" altLang="en-US" dirty="0"/>
              <a:t>Then, load </a:t>
            </a:r>
            <a:r>
              <a:rPr lang="en-US" altLang="en-US" dirty="0">
                <a:hlinkClick r:id="rId2"/>
              </a:rPr>
              <a:t>http://localhost:3000</a:t>
            </a:r>
            <a:r>
              <a:rPr lang="en-US" altLang="en-US" dirty="0"/>
              <a:t> in a browser to see the output.</a:t>
            </a:r>
          </a:p>
        </p:txBody>
      </p:sp>
      <p:sp>
        <p:nvSpPr>
          <p:cNvPr id="8" name="Rectangle 7">
            <a:extLst>
              <a:ext uri="{FF2B5EF4-FFF2-40B4-BE49-F238E27FC236}">
                <a16:creationId xmlns:a16="http://schemas.microsoft.com/office/drawing/2014/main" id="{D456EBDA-49A4-A843-A786-6989C63A54AA}"/>
              </a:ext>
            </a:extLst>
          </p:cNvPr>
          <p:cNvSpPr/>
          <p:nvPr/>
        </p:nvSpPr>
        <p:spPr>
          <a:xfrm>
            <a:off x="510540" y="4460333"/>
            <a:ext cx="5253475" cy="338554"/>
          </a:xfrm>
          <a:prstGeom prst="rect">
            <a:avLst/>
          </a:prstGeom>
          <a:solidFill>
            <a:schemeClr val="tx1"/>
          </a:solidFill>
          <a:ln>
            <a:noFill/>
          </a:ln>
        </p:spPr>
        <p:txBody>
          <a:bodyPr wrap="square">
            <a:spAutoFit/>
          </a:bodyPr>
          <a:lstStyle/>
          <a:p>
            <a:r>
              <a:rPr lang="en-US" sz="1600" b="1" dirty="0">
                <a:solidFill>
                  <a:schemeClr val="bg1"/>
                </a:solidFill>
                <a:latin typeface="Consolas" panose="020B0609020204030204" pitchFamily="49" charset="0"/>
              </a:rPr>
              <a:t>node app.js</a:t>
            </a:r>
            <a:endParaRPr lang="en-US" sz="1600" b="1" dirty="0">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352813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P spid="7" grpId="0" uiExpand="1" build="p"/>
      <p:bldP spid="8"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Routing</a:t>
            </a:r>
          </a:p>
        </p:txBody>
      </p:sp>
      <p:sp>
        <p:nvSpPr>
          <p:cNvPr id="3" name="Content Placeholder 2"/>
          <p:cNvSpPr>
            <a:spLocks noGrp="1"/>
          </p:cNvSpPr>
          <p:nvPr>
            <p:ph idx="1"/>
          </p:nvPr>
        </p:nvSpPr>
        <p:spPr/>
        <p:txBody>
          <a:bodyPr/>
          <a:lstStyle/>
          <a:p>
            <a:r>
              <a:rPr lang="en-US" altLang="en-US" b="1" i="1" dirty="0"/>
              <a:t>Routing</a:t>
            </a:r>
            <a:r>
              <a:rPr lang="en-US" altLang="en-US" dirty="0"/>
              <a:t> refers to determining how an application responds to a client request to a particular endpoint, which is a URI (or path) and a specific HTTP request method (GET, POST, and so on).</a:t>
            </a:r>
          </a:p>
          <a:p>
            <a:r>
              <a:rPr lang="en-US" altLang="en-US" dirty="0"/>
              <a:t>Each route can have one or more handler functions, which are executed when the route is matched.</a:t>
            </a:r>
          </a:p>
          <a:p>
            <a:r>
              <a:rPr lang="en-US" altLang="en-US" dirty="0"/>
              <a:t>Route definition takes the following structure:</a:t>
            </a:r>
          </a:p>
          <a:p>
            <a:pPr>
              <a:buFont typeface="Arial" panose="020B0604020202020204" pitchFamily="34" charset="0"/>
              <a:buNone/>
            </a:pPr>
            <a:r>
              <a:rPr lang="en-US" altLang="en-US" dirty="0"/>
              <a:t>		</a:t>
            </a:r>
            <a:r>
              <a:rPr lang="en-US" altLang="en-US" dirty="0" err="1"/>
              <a:t>app.METHOD</a:t>
            </a:r>
            <a:r>
              <a:rPr lang="en-US" altLang="en-US" dirty="0"/>
              <a:t>(PATH, HANDLER);</a:t>
            </a:r>
          </a:p>
          <a:p>
            <a:r>
              <a:rPr lang="en-US" altLang="en-US" dirty="0"/>
              <a:t>Where:</a:t>
            </a:r>
          </a:p>
          <a:p>
            <a:pPr lvl="1"/>
            <a:r>
              <a:rPr lang="en-US" altLang="en-US" dirty="0"/>
              <a:t>app is an instance of express.</a:t>
            </a:r>
          </a:p>
          <a:p>
            <a:pPr lvl="1"/>
            <a:r>
              <a:rPr lang="en-US" altLang="en-US" dirty="0"/>
              <a:t>METHOD is an HTTP request method, in lower case.</a:t>
            </a:r>
          </a:p>
          <a:p>
            <a:pPr lvl="1"/>
            <a:r>
              <a:rPr lang="en-US" altLang="en-US" dirty="0"/>
              <a:t>PATH is a path on the server</a:t>
            </a:r>
          </a:p>
          <a:p>
            <a:pPr lvl="1"/>
            <a:r>
              <a:rPr lang="en-US" altLang="en-US" dirty="0"/>
              <a:t>HANDLER is the function executed when the route is matched.</a:t>
            </a:r>
          </a:p>
          <a:p>
            <a:pPr lvl="1"/>
            <a:endParaRPr lang="en-US" altLang="en-US" dirty="0"/>
          </a:p>
          <a:p>
            <a:endParaRPr lang="en-US" dirty="0"/>
          </a:p>
        </p:txBody>
      </p:sp>
    </p:spTree>
    <p:extLst>
      <p:ext uri="{BB962C8B-B14F-4D97-AF65-F5344CB8AC3E}">
        <p14:creationId xmlns:p14="http://schemas.microsoft.com/office/powerpoint/2010/main" val="874511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 methods</a:t>
            </a:r>
            <a:endParaRPr lang="en-US" dirty="0"/>
          </a:p>
        </p:txBody>
      </p:sp>
      <p:sp>
        <p:nvSpPr>
          <p:cNvPr id="3" name="Content Placeholder 2"/>
          <p:cNvSpPr>
            <a:spLocks noGrp="1"/>
          </p:cNvSpPr>
          <p:nvPr>
            <p:ph idx="1"/>
          </p:nvPr>
        </p:nvSpPr>
        <p:spPr/>
        <p:txBody>
          <a:bodyPr/>
          <a:lstStyle/>
          <a:p>
            <a:r>
              <a:rPr lang="en-US" altLang="en-US" dirty="0"/>
              <a:t>A route method is derived from one of the HTTP methods, and  is attached to an instance of the express class.</a:t>
            </a:r>
          </a:p>
          <a:p>
            <a:r>
              <a:rPr lang="en-US" altLang="en-US" dirty="0"/>
              <a:t>The following code is an example of routes that are defined for the GET and POST methods to the root of the app.</a:t>
            </a:r>
          </a:p>
          <a:p>
            <a:r>
              <a:rPr lang="en-US" altLang="en-US" dirty="0"/>
              <a:t>GET method route:</a:t>
            </a:r>
          </a:p>
          <a:p>
            <a:endParaRPr lang="en-US" altLang="en-US" dirty="0"/>
          </a:p>
          <a:p>
            <a:pPr>
              <a:buFont typeface="Arial" panose="020B0604020202020204" pitchFamily="34" charset="0"/>
              <a:buNone/>
            </a:pPr>
            <a:r>
              <a:rPr lang="en-US" altLang="en-US" dirty="0"/>
              <a:t>		</a:t>
            </a:r>
          </a:p>
          <a:p>
            <a:r>
              <a:rPr lang="en-US" altLang="en-US" dirty="0"/>
              <a:t>POST method route:</a:t>
            </a:r>
          </a:p>
        </p:txBody>
      </p:sp>
      <p:sp>
        <p:nvSpPr>
          <p:cNvPr id="4" name="Rectangle 3">
            <a:extLst>
              <a:ext uri="{FF2B5EF4-FFF2-40B4-BE49-F238E27FC236}">
                <a16:creationId xmlns:a16="http://schemas.microsoft.com/office/drawing/2014/main" id="{D456EBDA-49A4-A843-A786-6989C63A54AA}"/>
              </a:ext>
            </a:extLst>
          </p:cNvPr>
          <p:cNvSpPr/>
          <p:nvPr/>
        </p:nvSpPr>
        <p:spPr>
          <a:xfrm>
            <a:off x="1014875" y="2832847"/>
            <a:ext cx="7837319" cy="830997"/>
          </a:xfrm>
          <a:prstGeom prst="rect">
            <a:avLst/>
          </a:prstGeom>
          <a:solidFill>
            <a:schemeClr val="bg1">
              <a:lumMod val="95000"/>
            </a:schemeClr>
          </a:solidFill>
          <a:ln>
            <a:noFill/>
          </a:ln>
        </p:spPr>
        <p:txBody>
          <a:bodyPr wrap="square">
            <a:spAutoFit/>
          </a:bodyPr>
          <a:lstStyle/>
          <a:p>
            <a:r>
              <a:rPr lang="en-US" sz="1600" dirty="0" err="1">
                <a:solidFill>
                  <a:srgbClr val="001080"/>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get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'Get request to the homepage'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p:txBody>
      </p:sp>
      <p:sp>
        <p:nvSpPr>
          <p:cNvPr id="5" name="Rectangle 4">
            <a:extLst>
              <a:ext uri="{FF2B5EF4-FFF2-40B4-BE49-F238E27FC236}">
                <a16:creationId xmlns:a16="http://schemas.microsoft.com/office/drawing/2014/main" id="{35F9F4A0-4592-C04D-B2D0-0BF66A3BFA20}"/>
              </a:ext>
            </a:extLst>
          </p:cNvPr>
          <p:cNvSpPr/>
          <p:nvPr/>
        </p:nvSpPr>
        <p:spPr>
          <a:xfrm>
            <a:off x="514882" y="2832847"/>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p:txBody>
      </p:sp>
      <p:sp>
        <p:nvSpPr>
          <p:cNvPr id="6" name="Rectangle 5">
            <a:extLst>
              <a:ext uri="{FF2B5EF4-FFF2-40B4-BE49-F238E27FC236}">
                <a16:creationId xmlns:a16="http://schemas.microsoft.com/office/drawing/2014/main" id="{D456EBDA-49A4-A843-A786-6989C63A54AA}"/>
              </a:ext>
            </a:extLst>
          </p:cNvPr>
          <p:cNvSpPr/>
          <p:nvPr/>
        </p:nvSpPr>
        <p:spPr>
          <a:xfrm>
            <a:off x="1014875" y="4227929"/>
            <a:ext cx="7837319" cy="830997"/>
          </a:xfrm>
          <a:prstGeom prst="rect">
            <a:avLst/>
          </a:prstGeom>
          <a:solidFill>
            <a:schemeClr val="bg1">
              <a:lumMod val="95000"/>
            </a:schemeClr>
          </a:solidFill>
          <a:ln>
            <a:noFill/>
          </a:ln>
        </p:spPr>
        <p:txBody>
          <a:bodyPr wrap="square">
            <a:spAutoFit/>
          </a:bodyPr>
          <a:lstStyle/>
          <a:p>
            <a:r>
              <a:rPr lang="en-US" sz="1600" dirty="0" err="1">
                <a:solidFill>
                  <a:srgbClr val="001080"/>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post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'Post request to </a:t>
            </a:r>
            <a:r>
              <a:rPr lang="en-US" sz="1600">
                <a:solidFill>
                  <a:srgbClr val="A31515"/>
                </a:solidFill>
                <a:latin typeface="Consolas" panose="020B0609020204030204" pitchFamily="49" charset="0"/>
              </a:rPr>
              <a:t>the homepage</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35F9F4A0-4592-C04D-B2D0-0BF66A3BFA20}"/>
              </a:ext>
            </a:extLst>
          </p:cNvPr>
          <p:cNvSpPr/>
          <p:nvPr/>
        </p:nvSpPr>
        <p:spPr>
          <a:xfrm>
            <a:off x="514882" y="4227929"/>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p:txBody>
      </p:sp>
    </p:spTree>
    <p:extLst>
      <p:ext uri="{BB962C8B-B14F-4D97-AF65-F5344CB8AC3E}">
        <p14:creationId xmlns:p14="http://schemas.microsoft.com/office/powerpoint/2010/main" val="288712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build="p"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 methods (Cont.)</a:t>
            </a:r>
            <a:endParaRPr lang="en-US" dirty="0"/>
          </a:p>
        </p:txBody>
      </p:sp>
      <p:sp>
        <p:nvSpPr>
          <p:cNvPr id="3" name="Content Placeholder 2"/>
          <p:cNvSpPr>
            <a:spLocks noGrp="1"/>
          </p:cNvSpPr>
          <p:nvPr>
            <p:ph idx="1"/>
          </p:nvPr>
        </p:nvSpPr>
        <p:spPr/>
        <p:txBody>
          <a:bodyPr/>
          <a:lstStyle/>
          <a:p>
            <a:r>
              <a:rPr lang="en-US" altLang="en-US" dirty="0"/>
              <a:t>There is a special routing method, </a:t>
            </a:r>
            <a:r>
              <a:rPr lang="en-US" altLang="en-US" dirty="0" err="1"/>
              <a:t>app.all</a:t>
            </a:r>
            <a:r>
              <a:rPr lang="en-US" altLang="en-US" dirty="0"/>
              <a:t>(), which is not derived from any HTTP method. </a:t>
            </a:r>
          </a:p>
          <a:p>
            <a:r>
              <a:rPr lang="en-US" altLang="en-US" dirty="0"/>
              <a:t>This method is used for loading middleware functions at a path for all request methods.  </a:t>
            </a:r>
          </a:p>
          <a:p>
            <a:r>
              <a:rPr lang="en-US" altLang="en-US" dirty="0"/>
              <a:t>In the following example, the handler will be executed for requests to “/secret” whether you are using GET, POST, PUT, DELETE, or any other HTTP request method that is supported in the http module.</a:t>
            </a:r>
          </a:p>
          <a:p>
            <a:pPr>
              <a:buFont typeface="Arial" panose="020B0604020202020204" pitchFamily="34" charset="0"/>
              <a:buNone/>
            </a:pPr>
            <a:r>
              <a:rPr lang="en-US" altLang="en-US" dirty="0"/>
              <a:t>		</a:t>
            </a:r>
            <a:endParaRPr lang="en-US" dirty="0"/>
          </a:p>
        </p:txBody>
      </p:sp>
      <p:sp>
        <p:nvSpPr>
          <p:cNvPr id="7" name="TextBox 6">
            <a:extLst>
              <a:ext uri="{FF2B5EF4-FFF2-40B4-BE49-F238E27FC236}">
                <a16:creationId xmlns:a16="http://schemas.microsoft.com/office/drawing/2014/main" id="{11CDBEA1-0757-4D51-4D1D-2791A72B0915}"/>
              </a:ext>
            </a:extLst>
          </p:cNvPr>
          <p:cNvSpPr txBox="1"/>
          <p:nvPr/>
        </p:nvSpPr>
        <p:spPr>
          <a:xfrm>
            <a:off x="1847674" y="2639335"/>
            <a:ext cx="8873456" cy="3877087"/>
          </a:xfrm>
          <a:prstGeom prst="rect">
            <a:avLst/>
          </a:prstGeom>
          <a:noFill/>
        </p:spPr>
        <p:txBody>
          <a:bodyPr wrap="square">
            <a:spAutoFit/>
          </a:bodyPr>
          <a:lstStyle/>
          <a:p>
            <a:pPr>
              <a:lnSpc>
                <a:spcPts val="1425"/>
              </a:lnSpc>
              <a:buNone/>
            </a:pPr>
            <a:r>
              <a:rPr lang="en-IN" b="0" dirty="0" err="1">
                <a:solidFill>
                  <a:srgbClr val="0070C1"/>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all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'/secret'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'Accessing the secret section...'</a:t>
            </a: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a:t>
            </a:r>
          </a:p>
          <a:p>
            <a:pPr>
              <a:lnSpc>
                <a:spcPts val="1425"/>
              </a:lnSpc>
              <a:buNone/>
            </a:pPr>
            <a:endParaRPr lang="en-IN" b="0" dirty="0">
              <a:solidFill>
                <a:srgbClr val="000000"/>
              </a:solidFill>
              <a:effectLst/>
              <a:latin typeface="Consolas" panose="020B0609020204030204" pitchFamily="49" charset="0"/>
            </a:endParaRPr>
          </a:p>
          <a:p>
            <a:pPr>
              <a:lnSpc>
                <a:spcPts val="1425"/>
              </a:lnSpc>
              <a:buNone/>
            </a:pPr>
            <a:endParaRPr lang="en-IN" b="0" dirty="0">
              <a:solidFill>
                <a:srgbClr val="0070C1"/>
              </a:solidFill>
              <a:effectLst/>
              <a:latin typeface="Consolas" panose="020B0609020204030204" pitchFamily="49" charset="0"/>
            </a:endParaRPr>
          </a:p>
          <a:p>
            <a:pPr>
              <a:lnSpc>
                <a:spcPts val="1425"/>
              </a:lnSpc>
              <a:buNone/>
            </a:pPr>
            <a:r>
              <a:rPr lang="en-IN" b="0" dirty="0" err="1">
                <a:solidFill>
                  <a:srgbClr val="0070C1"/>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'/secret'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'Welcome to the secret GET section!'</a:t>
            </a: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a:t>
            </a:r>
          </a:p>
          <a:p>
            <a:pPr>
              <a:lnSpc>
                <a:spcPts val="1425"/>
              </a:lnSpc>
              <a:buNone/>
            </a:pPr>
            <a:endParaRPr lang="en-IN" b="0" dirty="0">
              <a:solidFill>
                <a:srgbClr val="000000"/>
              </a:solidFill>
              <a:effectLst/>
              <a:latin typeface="Consolas" panose="020B0609020204030204" pitchFamily="49" charset="0"/>
            </a:endParaRPr>
          </a:p>
          <a:p>
            <a:pPr>
              <a:lnSpc>
                <a:spcPts val="1425"/>
              </a:lnSpc>
              <a:buNone/>
            </a:pPr>
            <a:endParaRPr lang="en-IN" b="0" dirty="0">
              <a:solidFill>
                <a:srgbClr val="000000"/>
              </a:solidFill>
              <a:effectLst/>
              <a:latin typeface="Consolas" panose="020B0609020204030204" pitchFamily="49" charset="0"/>
            </a:endParaRPr>
          </a:p>
          <a:p>
            <a:pPr>
              <a:lnSpc>
                <a:spcPts val="1425"/>
              </a:lnSpc>
              <a:buNone/>
            </a:pPr>
            <a:r>
              <a:rPr lang="en-IN" b="0" dirty="0" err="1">
                <a:solidFill>
                  <a:srgbClr val="0070C1"/>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post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'/secret'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'Welcome to the secret POST section!'</a:t>
            </a: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a:t>
            </a:r>
          </a:p>
          <a:p>
            <a:pPr>
              <a:lnSpc>
                <a:spcPts val="1425"/>
              </a:lnSpc>
              <a:buNone/>
            </a:pPr>
            <a:endParaRPr lang="en-IN" b="0" dirty="0">
              <a:solidFill>
                <a:srgbClr val="000000"/>
              </a:solidFill>
              <a:effectLst/>
              <a:latin typeface="Consolas" panose="020B0609020204030204" pitchFamily="49" charset="0"/>
            </a:endParaRPr>
          </a:p>
          <a:p>
            <a:pPr>
              <a:lnSpc>
                <a:spcPts val="1425"/>
              </a:lnSpc>
              <a:buNone/>
            </a:pPr>
            <a:endParaRPr lang="en-IN" b="0" dirty="0">
              <a:solidFill>
                <a:srgbClr val="000000"/>
              </a:solidFill>
              <a:effectLst/>
              <a:latin typeface="Consolas" panose="020B0609020204030204" pitchFamily="49" charset="0"/>
            </a:endParaRPr>
          </a:p>
          <a:p>
            <a:pPr>
              <a:lnSpc>
                <a:spcPts val="1425"/>
              </a:lnSpc>
              <a:buNone/>
            </a:pPr>
            <a:r>
              <a:rPr lang="en-IN" b="0" dirty="0" err="1">
                <a:solidFill>
                  <a:srgbClr val="0070C1"/>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all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'/*splat'</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404</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'404 Not Found'</a:t>
            </a: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a:t>
            </a:r>
          </a:p>
          <a:p>
            <a:pPr>
              <a:lnSpc>
                <a:spcPts val="1425"/>
              </a:lnSpc>
              <a:buNone/>
            </a:pPr>
            <a:endParaRPr lang="en-IN" b="0" dirty="0">
              <a:solidFill>
                <a:srgbClr val="000000"/>
              </a:solidFill>
              <a:effectLst/>
              <a:latin typeface="Consolas" panose="020B0609020204030204" pitchFamily="49" charset="0"/>
            </a:endParaRPr>
          </a:p>
          <a:p>
            <a:pPr>
              <a:lnSpc>
                <a:spcPts val="1425"/>
              </a:lnSpc>
              <a:buNone/>
            </a:pPr>
            <a:r>
              <a:rPr lang="en-IN" b="0" dirty="0" err="1">
                <a:solidFill>
                  <a:srgbClr val="0070C1"/>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(3000, ()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`Server listening on PORT </a:t>
            </a:r>
            <a:r>
              <a:rPr lang="en-IN" dirty="0">
                <a:solidFill>
                  <a:srgbClr val="0000FF"/>
                </a:solidFill>
                <a:latin typeface="Consolas" panose="020B0609020204030204" pitchFamily="49" charset="0"/>
              </a:rPr>
              <a:t>3000</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939691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 paths</a:t>
            </a:r>
            <a:endParaRPr lang="en-US" dirty="0"/>
          </a:p>
        </p:txBody>
      </p:sp>
      <p:sp>
        <p:nvSpPr>
          <p:cNvPr id="3" name="Content Placeholder 2"/>
          <p:cNvSpPr>
            <a:spLocks noGrp="1"/>
          </p:cNvSpPr>
          <p:nvPr>
            <p:ph idx="1"/>
          </p:nvPr>
        </p:nvSpPr>
        <p:spPr/>
        <p:txBody>
          <a:bodyPr/>
          <a:lstStyle/>
          <a:p>
            <a:r>
              <a:rPr lang="en-US" altLang="en-US" dirty="0"/>
              <a:t>Route paths, in combination with a request method, define the endpoints at which requests can be made. </a:t>
            </a:r>
          </a:p>
          <a:p>
            <a:r>
              <a:rPr lang="en-US" altLang="en-US" dirty="0"/>
              <a:t>A route </a:t>
            </a:r>
            <a:r>
              <a:rPr lang="en-US" altLang="en-US" b="1" i="1" dirty="0"/>
              <a:t>path</a:t>
            </a:r>
            <a:r>
              <a:rPr lang="en-US" altLang="en-US" dirty="0"/>
              <a:t> defines the </a:t>
            </a:r>
            <a:r>
              <a:rPr lang="en-US" altLang="en-US" b="1" i="1" dirty="0"/>
              <a:t>URL</a:t>
            </a:r>
            <a:r>
              <a:rPr lang="en-US" altLang="en-US" dirty="0"/>
              <a:t> pattern on which your server responds.</a:t>
            </a:r>
          </a:p>
          <a:p>
            <a:pPr marL="0" indent="0" algn="l">
              <a:buNone/>
            </a:pPr>
            <a:r>
              <a:rPr lang="en-US" altLang="en-US" sz="1800" dirty="0">
                <a:latin typeface="Consolas" panose="020B0609020204030204" pitchFamily="49" charset="0"/>
              </a:rPr>
              <a:t>	</a:t>
            </a:r>
            <a:r>
              <a:rPr lang="en-US" altLang="en-US" sz="1800" dirty="0" err="1">
                <a:latin typeface="Consolas" panose="020B0609020204030204" pitchFamily="49" charset="0"/>
              </a:rPr>
              <a:t>app.get</a:t>
            </a:r>
            <a:r>
              <a:rPr lang="en-US" altLang="en-US" sz="1800" dirty="0">
                <a:latin typeface="Consolas" panose="020B0609020204030204" pitchFamily="49" charset="0"/>
              </a:rPr>
              <a:t>(‘/dashboard', (req, res) =&gt; {</a:t>
            </a:r>
          </a:p>
          <a:p>
            <a:pPr marL="0" indent="0" algn="l">
              <a:buNone/>
            </a:pPr>
            <a:r>
              <a:rPr lang="en-US" altLang="en-US" sz="1800" dirty="0">
                <a:latin typeface="Consolas" panose="020B0609020204030204" pitchFamily="49" charset="0"/>
              </a:rPr>
              <a:t>		</a:t>
            </a:r>
            <a:r>
              <a:rPr lang="en-US" altLang="en-US" sz="1800" dirty="0" err="1">
                <a:latin typeface="Consolas" panose="020B0609020204030204" pitchFamily="49" charset="0"/>
              </a:rPr>
              <a:t>res.send</a:t>
            </a:r>
            <a:r>
              <a:rPr lang="en-US" altLang="en-US" sz="1800" dirty="0">
                <a:latin typeface="Consolas" panose="020B0609020204030204" pitchFamily="49" charset="0"/>
              </a:rPr>
              <a:t>("Welcome to Main Dashboard Page.");</a:t>
            </a:r>
          </a:p>
          <a:p>
            <a:pPr marL="0" indent="0" algn="l">
              <a:buNone/>
            </a:pPr>
            <a:r>
              <a:rPr lang="en-US" altLang="en-US" sz="1800" dirty="0">
                <a:latin typeface="Consolas" panose="020B0609020204030204" pitchFamily="49" charset="0"/>
              </a:rPr>
              <a:t>	});</a:t>
            </a:r>
          </a:p>
          <a:p>
            <a:pPr marL="0" indent="0" algn="l">
              <a:buNone/>
            </a:pPr>
            <a:endParaRPr lang="en-US" altLang="en-US" sz="1800" dirty="0">
              <a:highlight>
                <a:srgbClr val="C0C0C0"/>
              </a:highlight>
              <a:latin typeface="Consolas" panose="020B0609020204030204" pitchFamily="49" charset="0"/>
            </a:endParaRPr>
          </a:p>
          <a:p>
            <a:endParaRPr lang="en-US" altLang="en-US" dirty="0"/>
          </a:p>
          <a:p>
            <a:r>
              <a:rPr lang="en-US" altLang="en-US" dirty="0"/>
              <a:t>Route paths can be basic route paths, string patterns, route parameters, pattern matching, or regular expressions.</a:t>
            </a:r>
          </a:p>
          <a:p>
            <a:r>
              <a:rPr lang="en-US" altLang="en-US" u="sng" dirty="0"/>
              <a:t>Basic Route Path:</a:t>
            </a:r>
          </a:p>
          <a:p>
            <a:endParaRPr lang="en-US" altLang="en-US" dirty="0"/>
          </a:p>
        </p:txBody>
      </p:sp>
      <p:graphicFrame>
        <p:nvGraphicFramePr>
          <p:cNvPr id="4" name="Table 3">
            <a:extLst>
              <a:ext uri="{FF2B5EF4-FFF2-40B4-BE49-F238E27FC236}">
                <a16:creationId xmlns:a16="http://schemas.microsoft.com/office/drawing/2014/main" id="{DAAD1E65-30B3-E4A4-2B13-10E5D19B1E03}"/>
              </a:ext>
            </a:extLst>
          </p:cNvPr>
          <p:cNvGraphicFramePr>
            <a:graphicFrameLocks noGrp="1"/>
          </p:cNvGraphicFramePr>
          <p:nvPr>
            <p:extLst>
              <p:ext uri="{D42A27DB-BD31-4B8C-83A1-F6EECF244321}">
                <p14:modId xmlns:p14="http://schemas.microsoft.com/office/powerpoint/2010/main" val="2109977980"/>
              </p:ext>
            </p:extLst>
          </p:nvPr>
        </p:nvGraphicFramePr>
        <p:xfrm>
          <a:off x="1959429" y="3081464"/>
          <a:ext cx="9759990" cy="741680"/>
        </p:xfrm>
        <a:graphic>
          <a:graphicData uri="http://schemas.openxmlformats.org/drawingml/2006/table">
            <a:tbl>
              <a:tblPr firstRow="1" bandRow="1">
                <a:tableStyleId>{5C22544A-7EE6-4342-B048-85BDC9FD1C3A}</a:tableStyleId>
              </a:tblPr>
              <a:tblGrid>
                <a:gridCol w="2612571">
                  <a:extLst>
                    <a:ext uri="{9D8B030D-6E8A-4147-A177-3AD203B41FA5}">
                      <a16:colId xmlns:a16="http://schemas.microsoft.com/office/drawing/2014/main" val="133162777"/>
                    </a:ext>
                  </a:extLst>
                </a:gridCol>
                <a:gridCol w="2960914">
                  <a:extLst>
                    <a:ext uri="{9D8B030D-6E8A-4147-A177-3AD203B41FA5}">
                      <a16:colId xmlns:a16="http://schemas.microsoft.com/office/drawing/2014/main" val="3218665938"/>
                    </a:ext>
                  </a:extLst>
                </a:gridCol>
                <a:gridCol w="4186505">
                  <a:extLst>
                    <a:ext uri="{9D8B030D-6E8A-4147-A177-3AD203B41FA5}">
                      <a16:colId xmlns:a16="http://schemas.microsoft.com/office/drawing/2014/main" val="2120303678"/>
                    </a:ext>
                  </a:extLst>
                </a:gridCol>
              </a:tblGrid>
              <a:tr h="370840">
                <a:tc>
                  <a:txBody>
                    <a:bodyPr/>
                    <a:lstStyle/>
                    <a:p>
                      <a:r>
                        <a:rPr lang="en-US" dirty="0"/>
                        <a:t>URL in Browser</a:t>
                      </a:r>
                      <a:endParaRPr lang="en-IN" dirty="0"/>
                    </a:p>
                  </a:txBody>
                  <a:tcPr/>
                </a:tc>
                <a:tc>
                  <a:txBody>
                    <a:bodyPr/>
                    <a:lstStyle/>
                    <a:p>
                      <a:r>
                        <a:rPr lang="en-US" dirty="0"/>
                        <a:t>Route Path</a:t>
                      </a:r>
                      <a:endParaRPr lang="en-IN" dirty="0"/>
                    </a:p>
                  </a:txBody>
                  <a:tcPr/>
                </a:tc>
                <a:tc>
                  <a:txBody>
                    <a:bodyPr/>
                    <a:lstStyle/>
                    <a:p>
                      <a:r>
                        <a:rPr lang="en-US" dirty="0"/>
                        <a:t>Output</a:t>
                      </a:r>
                      <a:endParaRPr lang="en-IN" dirty="0"/>
                    </a:p>
                  </a:txBody>
                  <a:tcPr/>
                </a:tc>
                <a:extLst>
                  <a:ext uri="{0D108BD9-81ED-4DB2-BD59-A6C34878D82A}">
                    <a16:rowId xmlns:a16="http://schemas.microsoft.com/office/drawing/2014/main" val="1546845559"/>
                  </a:ext>
                </a:extLst>
              </a:tr>
              <a:tr h="370840">
                <a:tc>
                  <a:txBody>
                    <a:bodyPr/>
                    <a:lstStyle/>
                    <a:p>
                      <a:r>
                        <a:rPr lang="en-US" dirty="0"/>
                        <a:t>/dashboard</a:t>
                      </a:r>
                      <a:endParaRPr lang="en-IN" dirty="0"/>
                    </a:p>
                  </a:txBody>
                  <a:tcPr/>
                </a:tc>
                <a:tc>
                  <a:txBody>
                    <a:bodyPr/>
                    <a:lstStyle/>
                    <a:p>
                      <a:r>
                        <a:rPr lang="en-US" dirty="0"/>
                        <a:t>/dashboard</a:t>
                      </a:r>
                      <a:endParaRPr lang="en-IN" dirty="0"/>
                    </a:p>
                  </a:txBody>
                  <a:tcPr/>
                </a:tc>
                <a:tc>
                  <a:txBody>
                    <a:bodyPr/>
                    <a:lstStyle/>
                    <a:p>
                      <a:r>
                        <a:rPr lang="en-US" dirty="0"/>
                        <a:t>Welcome to Main Dashboard Page</a:t>
                      </a:r>
                      <a:endParaRPr lang="en-IN" dirty="0"/>
                    </a:p>
                  </a:txBody>
                  <a:tcPr/>
                </a:tc>
                <a:extLst>
                  <a:ext uri="{0D108BD9-81ED-4DB2-BD59-A6C34878D82A}">
                    <a16:rowId xmlns:a16="http://schemas.microsoft.com/office/drawing/2014/main" val="2268448830"/>
                  </a:ext>
                </a:extLst>
              </a:tr>
            </a:tbl>
          </a:graphicData>
        </a:graphic>
      </p:graphicFrame>
      <p:graphicFrame>
        <p:nvGraphicFramePr>
          <p:cNvPr id="5" name="Table 4">
            <a:extLst>
              <a:ext uri="{FF2B5EF4-FFF2-40B4-BE49-F238E27FC236}">
                <a16:creationId xmlns:a16="http://schemas.microsoft.com/office/drawing/2014/main" id="{0F25BFBA-A154-B949-898F-962DA8CA47B9}"/>
              </a:ext>
            </a:extLst>
          </p:cNvPr>
          <p:cNvGraphicFramePr>
            <a:graphicFrameLocks noGrp="1"/>
          </p:cNvGraphicFramePr>
          <p:nvPr>
            <p:extLst>
              <p:ext uri="{D42A27DB-BD31-4B8C-83A1-F6EECF244321}">
                <p14:modId xmlns:p14="http://schemas.microsoft.com/office/powerpoint/2010/main" val="3020939157"/>
              </p:ext>
            </p:extLst>
          </p:nvPr>
        </p:nvGraphicFramePr>
        <p:xfrm>
          <a:off x="2736342" y="4855439"/>
          <a:ext cx="6719316" cy="1483360"/>
        </p:xfrm>
        <a:graphic>
          <a:graphicData uri="http://schemas.openxmlformats.org/drawingml/2006/table">
            <a:tbl>
              <a:tblPr firstRow="1" bandRow="1">
                <a:tableStyleId>{5C22544A-7EE6-4342-B048-85BDC9FD1C3A}</a:tableStyleId>
              </a:tblPr>
              <a:tblGrid>
                <a:gridCol w="3359658">
                  <a:extLst>
                    <a:ext uri="{9D8B030D-6E8A-4147-A177-3AD203B41FA5}">
                      <a16:colId xmlns:a16="http://schemas.microsoft.com/office/drawing/2014/main" val="1606167933"/>
                    </a:ext>
                  </a:extLst>
                </a:gridCol>
                <a:gridCol w="3359658">
                  <a:extLst>
                    <a:ext uri="{9D8B030D-6E8A-4147-A177-3AD203B41FA5}">
                      <a16:colId xmlns:a16="http://schemas.microsoft.com/office/drawing/2014/main" val="3149979206"/>
                    </a:ext>
                  </a:extLst>
                </a:gridCol>
              </a:tblGrid>
              <a:tr h="370840">
                <a:tc>
                  <a:txBody>
                    <a:bodyPr/>
                    <a:lstStyle/>
                    <a:p>
                      <a:pPr algn="l"/>
                      <a:r>
                        <a:rPr lang="en-US" dirty="0"/>
                        <a:t>Route</a:t>
                      </a:r>
                      <a:endParaRPr lang="en-IN" dirty="0"/>
                    </a:p>
                  </a:txBody>
                  <a:tcPr/>
                </a:tc>
                <a:tc>
                  <a:txBody>
                    <a:bodyPr/>
                    <a:lstStyle/>
                    <a:p>
                      <a:pPr algn="l"/>
                      <a:r>
                        <a:rPr lang="en-US" dirty="0"/>
                        <a:t>Meaning</a:t>
                      </a:r>
                      <a:endParaRPr lang="en-IN" dirty="0"/>
                    </a:p>
                  </a:txBody>
                  <a:tcPr/>
                </a:tc>
                <a:extLst>
                  <a:ext uri="{0D108BD9-81ED-4DB2-BD59-A6C34878D82A}">
                    <a16:rowId xmlns:a16="http://schemas.microsoft.com/office/drawing/2014/main" val="1833654268"/>
                  </a:ext>
                </a:extLst>
              </a:tr>
              <a:tr h="370840">
                <a:tc>
                  <a:txBody>
                    <a:bodyPr/>
                    <a:lstStyle/>
                    <a:p>
                      <a:pPr algn="l"/>
                      <a:r>
                        <a:rPr lang="en-US" dirty="0"/>
                        <a:t>/</a:t>
                      </a:r>
                      <a:endParaRPr lang="en-IN" dirty="0"/>
                    </a:p>
                  </a:txBody>
                  <a:tcPr/>
                </a:tc>
                <a:tc>
                  <a:txBody>
                    <a:bodyPr/>
                    <a:lstStyle/>
                    <a:p>
                      <a:pPr algn="l"/>
                      <a:r>
                        <a:rPr lang="en-US" dirty="0"/>
                        <a:t>Root route</a:t>
                      </a:r>
                      <a:endParaRPr lang="en-IN" dirty="0"/>
                    </a:p>
                  </a:txBody>
                  <a:tcPr/>
                </a:tc>
                <a:extLst>
                  <a:ext uri="{0D108BD9-81ED-4DB2-BD59-A6C34878D82A}">
                    <a16:rowId xmlns:a16="http://schemas.microsoft.com/office/drawing/2014/main" val="1993409306"/>
                  </a:ext>
                </a:extLst>
              </a:tr>
              <a:tr h="370840">
                <a:tc>
                  <a:txBody>
                    <a:bodyPr/>
                    <a:lstStyle/>
                    <a:p>
                      <a:pPr algn="l"/>
                      <a:r>
                        <a:rPr lang="en-US" dirty="0"/>
                        <a:t>/about</a:t>
                      </a:r>
                      <a:endParaRPr lang="en-IN" dirty="0"/>
                    </a:p>
                  </a:txBody>
                  <a:tcPr/>
                </a:tc>
                <a:tc>
                  <a:txBody>
                    <a:bodyPr/>
                    <a:lstStyle/>
                    <a:p>
                      <a:pPr algn="l"/>
                      <a:r>
                        <a:rPr lang="en-US" dirty="0"/>
                        <a:t>About page</a:t>
                      </a:r>
                      <a:endParaRPr lang="en-IN" dirty="0"/>
                    </a:p>
                  </a:txBody>
                  <a:tcPr/>
                </a:tc>
                <a:extLst>
                  <a:ext uri="{0D108BD9-81ED-4DB2-BD59-A6C34878D82A}">
                    <a16:rowId xmlns:a16="http://schemas.microsoft.com/office/drawing/2014/main" val="814897108"/>
                  </a:ext>
                </a:extLst>
              </a:tr>
              <a:tr h="370840">
                <a:tc>
                  <a:txBody>
                    <a:bodyPr/>
                    <a:lstStyle/>
                    <a:p>
                      <a:pPr algn="l"/>
                      <a:r>
                        <a:rPr lang="en-US" dirty="0"/>
                        <a:t>/contact</a:t>
                      </a:r>
                      <a:endParaRPr lang="en-IN" dirty="0"/>
                    </a:p>
                  </a:txBody>
                  <a:tcPr/>
                </a:tc>
                <a:tc>
                  <a:txBody>
                    <a:bodyPr/>
                    <a:lstStyle/>
                    <a:p>
                      <a:pPr algn="l"/>
                      <a:r>
                        <a:rPr lang="en-US" dirty="0"/>
                        <a:t>Contact page</a:t>
                      </a:r>
                      <a:endParaRPr lang="en-IN" dirty="0"/>
                    </a:p>
                  </a:txBody>
                  <a:tcPr/>
                </a:tc>
                <a:extLst>
                  <a:ext uri="{0D108BD9-81ED-4DB2-BD59-A6C34878D82A}">
                    <a16:rowId xmlns:a16="http://schemas.microsoft.com/office/drawing/2014/main" val="3197580785"/>
                  </a:ext>
                </a:extLst>
              </a:tr>
            </a:tbl>
          </a:graphicData>
        </a:graphic>
      </p:graphicFrame>
    </p:spTree>
    <p:extLst>
      <p:ext uri="{BB962C8B-B14F-4D97-AF65-F5344CB8AC3E}">
        <p14:creationId xmlns:p14="http://schemas.microsoft.com/office/powerpoint/2010/main" val="317725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B6B32-716E-F7C6-DDD9-3E7D79784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78679-6B7C-A280-2575-A72552F59079}"/>
              </a:ext>
            </a:extLst>
          </p:cNvPr>
          <p:cNvSpPr>
            <a:spLocks noGrp="1"/>
          </p:cNvSpPr>
          <p:nvPr>
            <p:ph type="title"/>
          </p:nvPr>
        </p:nvSpPr>
        <p:spPr/>
        <p:txBody>
          <a:bodyPr/>
          <a:lstStyle/>
          <a:p>
            <a:r>
              <a:rPr lang="en-US" altLang="en-US" dirty="0"/>
              <a:t>Route paths</a:t>
            </a:r>
            <a:endParaRPr lang="en-US" dirty="0"/>
          </a:p>
        </p:txBody>
      </p:sp>
      <p:sp>
        <p:nvSpPr>
          <p:cNvPr id="3" name="Content Placeholder 2">
            <a:extLst>
              <a:ext uri="{FF2B5EF4-FFF2-40B4-BE49-F238E27FC236}">
                <a16:creationId xmlns:a16="http://schemas.microsoft.com/office/drawing/2014/main" id="{3D6E3216-9CEC-498E-7ACF-81814E6B4331}"/>
              </a:ext>
            </a:extLst>
          </p:cNvPr>
          <p:cNvSpPr>
            <a:spLocks noGrp="1"/>
          </p:cNvSpPr>
          <p:nvPr>
            <p:ph idx="1"/>
          </p:nvPr>
        </p:nvSpPr>
        <p:spPr/>
        <p:txBody>
          <a:bodyPr/>
          <a:lstStyle/>
          <a:p>
            <a:r>
              <a:rPr lang="en-US" altLang="en-US" dirty="0"/>
              <a:t>String Pattern Route:</a:t>
            </a:r>
          </a:p>
          <a:p>
            <a:pPr marL="0" indent="0">
              <a:buNone/>
            </a:pPr>
            <a:r>
              <a:rPr lang="en-US" altLang="en-US" sz="1800" dirty="0">
                <a:latin typeface="Consolas" panose="020B0609020204030204" pitchFamily="49" charset="0"/>
              </a:rPr>
              <a:t>	</a:t>
            </a:r>
            <a:r>
              <a:rPr lang="en-US" altLang="en-US" sz="1800" dirty="0" err="1">
                <a:latin typeface="Consolas" panose="020B0609020204030204" pitchFamily="49" charset="0"/>
              </a:rPr>
              <a:t>app.get</a:t>
            </a:r>
            <a:r>
              <a:rPr lang="en-US" altLang="en-US" sz="1800" dirty="0">
                <a:latin typeface="Consolas" panose="020B0609020204030204" pitchFamily="49" charset="0"/>
              </a:rPr>
              <a:t>('/student', ...)</a:t>
            </a:r>
          </a:p>
          <a:p>
            <a:pPr marL="0" indent="0">
              <a:buNone/>
            </a:pPr>
            <a:r>
              <a:rPr lang="en-US" altLang="en-US" sz="1800" dirty="0">
                <a:latin typeface="Consolas" panose="020B0609020204030204" pitchFamily="49" charset="0"/>
              </a:rPr>
              <a:t>	</a:t>
            </a:r>
            <a:r>
              <a:rPr lang="en-US" altLang="en-US" sz="1800" dirty="0" err="1">
                <a:latin typeface="Consolas" panose="020B0609020204030204" pitchFamily="49" charset="0"/>
              </a:rPr>
              <a:t>app.get</a:t>
            </a:r>
            <a:r>
              <a:rPr lang="en-US" altLang="en-US" sz="1800" dirty="0">
                <a:latin typeface="Consolas" panose="020B0609020204030204" pitchFamily="49" charset="0"/>
              </a:rPr>
              <a:t>('/students', ...)</a:t>
            </a:r>
          </a:p>
          <a:p>
            <a:pPr lvl="1"/>
            <a:r>
              <a:rPr lang="en-US" altLang="en-US" dirty="0"/>
              <a:t>There are different routes.</a:t>
            </a:r>
          </a:p>
          <a:p>
            <a:pPr marL="457200" lvl="1" indent="0">
              <a:buNone/>
            </a:pPr>
            <a:endParaRPr lang="en-US" altLang="en-US" dirty="0"/>
          </a:p>
          <a:p>
            <a:r>
              <a:rPr lang="en-US" dirty="0"/>
              <a:t>Route Parameters (Dynamic Route)</a:t>
            </a:r>
          </a:p>
          <a:p>
            <a:pPr marL="0" indent="0">
              <a:buNone/>
            </a:pPr>
            <a:r>
              <a:rPr lang="en-US" dirty="0"/>
              <a:t>		</a:t>
            </a:r>
            <a:r>
              <a:rPr lang="en-US" sz="1800" dirty="0" err="1">
                <a:latin typeface="Consolas" panose="020B0609020204030204" pitchFamily="49" charset="0"/>
              </a:rPr>
              <a:t>app.get</a:t>
            </a:r>
            <a:r>
              <a:rPr lang="en-US" sz="1800" dirty="0">
                <a:latin typeface="Consolas" panose="020B0609020204030204" pitchFamily="49" charset="0"/>
              </a:rPr>
              <a:t>('/user/:id', (req, res) =&gt; {</a:t>
            </a:r>
          </a:p>
          <a:p>
            <a:pPr marL="0" indent="0">
              <a:buNone/>
            </a:pPr>
            <a:r>
              <a:rPr lang="en-US" sz="1800" dirty="0">
                <a:latin typeface="Consolas" panose="020B0609020204030204" pitchFamily="49" charset="0"/>
              </a:rPr>
              <a:t>			</a:t>
            </a:r>
            <a:r>
              <a:rPr lang="en-US" sz="1800" dirty="0" err="1">
                <a:latin typeface="Consolas" panose="020B0609020204030204" pitchFamily="49" charset="0"/>
              </a:rPr>
              <a:t>res.send</a:t>
            </a:r>
            <a:r>
              <a:rPr lang="en-US" sz="1800" dirty="0">
                <a:latin typeface="Consolas" panose="020B0609020204030204" pitchFamily="49" charset="0"/>
              </a:rPr>
              <a:t>("User ID = " + req.params.id);</a:t>
            </a:r>
          </a:p>
          <a:p>
            <a:pPr marL="0" indent="0">
              <a:buNone/>
            </a:pPr>
            <a:r>
              <a:rPr lang="en-US" sz="1800" dirty="0">
                <a:latin typeface="Consolas" panose="020B0609020204030204" pitchFamily="49" charset="0"/>
              </a:rPr>
              <a:t>		});</a:t>
            </a:r>
          </a:p>
          <a:p>
            <a:pPr marL="0" indent="0">
              <a:buNone/>
            </a:pPr>
            <a:endParaRPr lang="en-US" dirty="0"/>
          </a:p>
        </p:txBody>
      </p:sp>
      <p:graphicFrame>
        <p:nvGraphicFramePr>
          <p:cNvPr id="4" name="Table 3">
            <a:extLst>
              <a:ext uri="{FF2B5EF4-FFF2-40B4-BE49-F238E27FC236}">
                <a16:creationId xmlns:a16="http://schemas.microsoft.com/office/drawing/2014/main" id="{2874AE25-7F4E-A23B-561B-22D4A03796C4}"/>
              </a:ext>
            </a:extLst>
          </p:cNvPr>
          <p:cNvGraphicFramePr>
            <a:graphicFrameLocks noGrp="1"/>
          </p:cNvGraphicFramePr>
          <p:nvPr>
            <p:extLst>
              <p:ext uri="{D42A27DB-BD31-4B8C-83A1-F6EECF244321}">
                <p14:modId xmlns:p14="http://schemas.microsoft.com/office/powerpoint/2010/main" val="1344320718"/>
              </p:ext>
            </p:extLst>
          </p:nvPr>
        </p:nvGraphicFramePr>
        <p:xfrm>
          <a:off x="1944914" y="4664649"/>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38024088"/>
                    </a:ext>
                  </a:extLst>
                </a:gridCol>
                <a:gridCol w="4064000">
                  <a:extLst>
                    <a:ext uri="{9D8B030D-6E8A-4147-A177-3AD203B41FA5}">
                      <a16:colId xmlns:a16="http://schemas.microsoft.com/office/drawing/2014/main" val="403451627"/>
                    </a:ext>
                  </a:extLst>
                </a:gridCol>
              </a:tblGrid>
              <a:tr h="370840">
                <a:tc>
                  <a:txBody>
                    <a:bodyPr/>
                    <a:lstStyle/>
                    <a:p>
                      <a:r>
                        <a:rPr lang="en-US" dirty="0"/>
                        <a:t>URL</a:t>
                      </a:r>
                      <a:endParaRPr lang="en-IN" dirty="0"/>
                    </a:p>
                  </a:txBody>
                  <a:tcPr/>
                </a:tc>
                <a:tc>
                  <a:txBody>
                    <a:bodyPr/>
                    <a:lstStyle/>
                    <a:p>
                      <a:r>
                        <a:rPr lang="en-US" dirty="0"/>
                        <a:t>Id</a:t>
                      </a:r>
                      <a:endParaRPr lang="en-IN" dirty="0"/>
                    </a:p>
                  </a:txBody>
                  <a:tcPr/>
                </a:tc>
                <a:extLst>
                  <a:ext uri="{0D108BD9-81ED-4DB2-BD59-A6C34878D82A}">
                    <a16:rowId xmlns:a16="http://schemas.microsoft.com/office/drawing/2014/main" val="3648671629"/>
                  </a:ext>
                </a:extLst>
              </a:tr>
              <a:tr h="370840">
                <a:tc>
                  <a:txBody>
                    <a:bodyPr/>
                    <a:lstStyle/>
                    <a:p>
                      <a:r>
                        <a:rPr lang="en-US" dirty="0"/>
                        <a:t>/user/101</a:t>
                      </a:r>
                      <a:endParaRPr lang="en-IN" dirty="0"/>
                    </a:p>
                  </a:txBody>
                  <a:tcPr/>
                </a:tc>
                <a:tc>
                  <a:txBody>
                    <a:bodyPr/>
                    <a:lstStyle/>
                    <a:p>
                      <a:r>
                        <a:rPr lang="en-US" dirty="0"/>
                        <a:t>101</a:t>
                      </a:r>
                      <a:endParaRPr lang="en-IN" dirty="0"/>
                    </a:p>
                  </a:txBody>
                  <a:tcPr/>
                </a:tc>
                <a:extLst>
                  <a:ext uri="{0D108BD9-81ED-4DB2-BD59-A6C34878D82A}">
                    <a16:rowId xmlns:a16="http://schemas.microsoft.com/office/drawing/2014/main" val="3037150706"/>
                  </a:ext>
                </a:extLst>
              </a:tr>
              <a:tr h="370840">
                <a:tc>
                  <a:txBody>
                    <a:bodyPr/>
                    <a:lstStyle/>
                    <a:p>
                      <a:r>
                        <a:rPr lang="en-US" dirty="0"/>
                        <a:t>/user/</a:t>
                      </a:r>
                      <a:r>
                        <a:rPr lang="en-US" dirty="0" err="1"/>
                        <a:t>abc</a:t>
                      </a:r>
                      <a:endParaRPr lang="en-IN" dirty="0"/>
                    </a:p>
                  </a:txBody>
                  <a:tcPr/>
                </a:tc>
                <a:tc>
                  <a:txBody>
                    <a:bodyPr/>
                    <a:lstStyle/>
                    <a:p>
                      <a:r>
                        <a:rPr lang="en-US" dirty="0" err="1"/>
                        <a:t>abc</a:t>
                      </a:r>
                      <a:endParaRPr lang="en-IN" dirty="0"/>
                    </a:p>
                  </a:txBody>
                  <a:tcPr/>
                </a:tc>
                <a:extLst>
                  <a:ext uri="{0D108BD9-81ED-4DB2-BD59-A6C34878D82A}">
                    <a16:rowId xmlns:a16="http://schemas.microsoft.com/office/drawing/2014/main" val="1879731134"/>
                  </a:ext>
                </a:extLst>
              </a:tr>
            </a:tbl>
          </a:graphicData>
        </a:graphic>
      </p:graphicFrame>
    </p:spTree>
    <p:extLst>
      <p:ext uri="{BB962C8B-B14F-4D97-AF65-F5344CB8AC3E}">
        <p14:creationId xmlns:p14="http://schemas.microsoft.com/office/powerpoint/2010/main" val="127311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 Parameters</a:t>
            </a:r>
            <a:endParaRPr lang="en-US" dirty="0"/>
          </a:p>
        </p:txBody>
      </p:sp>
      <p:sp>
        <p:nvSpPr>
          <p:cNvPr id="3" name="Content Placeholder 2"/>
          <p:cNvSpPr>
            <a:spLocks noGrp="1"/>
          </p:cNvSpPr>
          <p:nvPr>
            <p:ph idx="1"/>
          </p:nvPr>
        </p:nvSpPr>
        <p:spPr/>
        <p:txBody>
          <a:bodyPr/>
          <a:lstStyle/>
          <a:p>
            <a:r>
              <a:rPr lang="en-US" altLang="en-US" dirty="0"/>
              <a:t>Route parameters are named URL segments that are used to capture the values specified at their position in the URL. The captured values are populated in the </a:t>
            </a:r>
            <a:r>
              <a:rPr lang="en-US" altLang="en-US" dirty="0" err="1"/>
              <a:t>req.params</a:t>
            </a:r>
            <a:r>
              <a:rPr lang="en-US" altLang="en-US" dirty="0"/>
              <a:t> object, with the name of the route parameter specified in the path as their respective keys.</a:t>
            </a:r>
          </a:p>
          <a:p>
            <a:pPr>
              <a:buFont typeface="Arial" panose="020B0604020202020204" pitchFamily="34" charset="0"/>
              <a:buNone/>
            </a:pPr>
            <a:r>
              <a:rPr lang="en-US" altLang="en-US" dirty="0"/>
              <a:t>		Route path: /users/:</a:t>
            </a:r>
            <a:r>
              <a:rPr lang="en-US" altLang="en-US" dirty="0" err="1"/>
              <a:t>userId</a:t>
            </a:r>
            <a:r>
              <a:rPr lang="en-US" altLang="en-US" dirty="0"/>
              <a:t>/books/:</a:t>
            </a:r>
            <a:r>
              <a:rPr lang="en-US" altLang="en-US" dirty="0" err="1"/>
              <a:t>bookId</a:t>
            </a:r>
            <a:r>
              <a:rPr lang="en-US" altLang="en-US" dirty="0"/>
              <a:t> </a:t>
            </a:r>
          </a:p>
          <a:p>
            <a:pPr>
              <a:buFont typeface="Arial" panose="020B0604020202020204" pitchFamily="34" charset="0"/>
              <a:buNone/>
            </a:pPr>
            <a:r>
              <a:rPr lang="en-US" altLang="en-US" dirty="0"/>
              <a:t>		Request URL: http://localhost:3000/users/34/books/8989 	</a:t>
            </a:r>
          </a:p>
          <a:p>
            <a:pPr>
              <a:buFont typeface="Arial" panose="020B0604020202020204" pitchFamily="34" charset="0"/>
              <a:buNone/>
            </a:pPr>
            <a:r>
              <a:rPr lang="en-US" altLang="en-US" dirty="0"/>
              <a:t>		</a:t>
            </a:r>
            <a:r>
              <a:rPr lang="en-US" altLang="en-US" dirty="0" err="1"/>
              <a:t>req.params</a:t>
            </a:r>
            <a:r>
              <a:rPr lang="en-US" altLang="en-US" dirty="0"/>
              <a:t>: { "</a:t>
            </a:r>
            <a:r>
              <a:rPr lang="en-US" altLang="en-US" dirty="0" err="1"/>
              <a:t>userId</a:t>
            </a:r>
            <a:r>
              <a:rPr lang="en-US" altLang="en-US" dirty="0"/>
              <a:t>": "34", "</a:t>
            </a:r>
            <a:r>
              <a:rPr lang="en-US" altLang="en-US" dirty="0" err="1"/>
              <a:t>bookId</a:t>
            </a:r>
            <a:r>
              <a:rPr lang="en-US" altLang="en-US" dirty="0"/>
              <a:t>": "8989" }</a:t>
            </a:r>
          </a:p>
          <a:p>
            <a:r>
              <a:rPr lang="en-US" altLang="en-US" dirty="0"/>
              <a:t>To define routes with route parameters, simply specify the route parameters in the path of the route as shown below.</a:t>
            </a:r>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032128" y="4133039"/>
            <a:ext cx="7837319" cy="830997"/>
          </a:xfrm>
          <a:prstGeom prst="rect">
            <a:avLst/>
          </a:prstGeom>
          <a:solidFill>
            <a:schemeClr val="bg1">
              <a:lumMod val="95000"/>
            </a:schemeClr>
          </a:solidFill>
          <a:ln>
            <a:noFill/>
          </a:ln>
        </p:spPr>
        <p:txBody>
          <a:bodyPr wrap="square">
            <a:spAutoFit/>
          </a:bodyPr>
          <a:lstStyle/>
          <a:p>
            <a:r>
              <a:rPr lang="en-US" sz="1600" dirty="0" err="1">
                <a:solidFill>
                  <a:srgbClr val="001080"/>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get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'/users/:</a:t>
            </a:r>
            <a:r>
              <a:rPr lang="en-US" sz="1600" dirty="0" err="1">
                <a:solidFill>
                  <a:srgbClr val="A31515"/>
                </a:solidFill>
                <a:latin typeface="Consolas" panose="020B0609020204030204" pitchFamily="49" charset="0"/>
              </a:rPr>
              <a:t>userId</a:t>
            </a:r>
            <a:r>
              <a:rPr lang="en-US" sz="1600" dirty="0">
                <a:solidFill>
                  <a:srgbClr val="A31515"/>
                </a:solidFill>
                <a:latin typeface="Consolas" panose="020B0609020204030204" pitchFamily="49" charset="0"/>
              </a:rPr>
              <a:t>/books/:</a:t>
            </a:r>
            <a:r>
              <a:rPr lang="en-US" sz="1600" dirty="0" err="1">
                <a:solidFill>
                  <a:srgbClr val="A31515"/>
                </a:solidFill>
                <a:latin typeface="Consolas" panose="020B0609020204030204" pitchFamily="49" charset="0"/>
              </a:rPr>
              <a:t>bookId</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req</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params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32135" y="4133039"/>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p:txBody>
      </p:sp>
    </p:spTree>
    <p:extLst>
      <p:ext uri="{BB962C8B-B14F-4D97-AF65-F5344CB8AC3E}">
        <p14:creationId xmlns:p14="http://schemas.microsoft.com/office/powerpoint/2010/main" val="119011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bg/>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 Parameters (Cont.)</a:t>
            </a:r>
            <a:endParaRPr lang="en-US" dirty="0"/>
          </a:p>
        </p:txBody>
      </p:sp>
      <p:sp>
        <p:nvSpPr>
          <p:cNvPr id="3" name="Content Placeholder 2"/>
          <p:cNvSpPr>
            <a:spLocks noGrp="1"/>
          </p:cNvSpPr>
          <p:nvPr>
            <p:ph idx="1"/>
          </p:nvPr>
        </p:nvSpPr>
        <p:spPr/>
        <p:txBody>
          <a:bodyPr/>
          <a:lstStyle/>
          <a:p>
            <a:r>
              <a:rPr lang="en-US" altLang="en-US" dirty="0"/>
              <a:t>Since the hyphen (-) and the dot (.) are interpreted literally, they can be used along with route parameters for useful purposes.</a:t>
            </a:r>
          </a:p>
          <a:p>
            <a:pPr>
              <a:buFont typeface="Arial" panose="020B0604020202020204" pitchFamily="34" charset="0"/>
              <a:buNone/>
            </a:pPr>
            <a:r>
              <a:rPr lang="en-US" altLang="en-US" dirty="0"/>
              <a:t>		</a:t>
            </a:r>
            <a:r>
              <a:rPr lang="en-US" altLang="en-US" dirty="0">
                <a:latin typeface="Consolas" panose="020B0609020204030204" pitchFamily="49" charset="0"/>
              </a:rPr>
              <a:t>Route path: /flights/:from-:to </a:t>
            </a:r>
          </a:p>
          <a:p>
            <a:pPr>
              <a:buFont typeface="Arial" panose="020B0604020202020204" pitchFamily="34" charset="0"/>
              <a:buNone/>
            </a:pPr>
            <a:r>
              <a:rPr lang="en-US" altLang="en-US" dirty="0">
                <a:latin typeface="Consolas" panose="020B0609020204030204" pitchFamily="49" charset="0"/>
              </a:rPr>
              <a:t>		Request URL: http://localhost:3000/flights/LAX-SFO </a:t>
            </a:r>
          </a:p>
          <a:p>
            <a:pPr>
              <a:buFont typeface="Arial" panose="020B0604020202020204" pitchFamily="34" charset="0"/>
              <a:buNone/>
            </a:pPr>
            <a:r>
              <a:rPr lang="en-US" altLang="en-US" dirty="0">
                <a:latin typeface="Consolas" panose="020B0609020204030204" pitchFamily="49" charset="0"/>
              </a:rPr>
              <a:t>		</a:t>
            </a:r>
            <a:r>
              <a:rPr lang="en-US" altLang="en-US" dirty="0" err="1">
                <a:latin typeface="Consolas" panose="020B0609020204030204" pitchFamily="49" charset="0"/>
              </a:rPr>
              <a:t>req.params</a:t>
            </a:r>
            <a:r>
              <a:rPr lang="en-US" altLang="en-US" dirty="0">
                <a:latin typeface="Consolas" panose="020B0609020204030204" pitchFamily="49" charset="0"/>
              </a:rPr>
              <a:t>: { "from": "LAX", "to": "SFO" }</a:t>
            </a:r>
          </a:p>
          <a:p>
            <a:pPr>
              <a:buFont typeface="Arial" panose="020B0604020202020204" pitchFamily="34" charset="0"/>
              <a:buNone/>
            </a:pPr>
            <a:endParaRPr lang="en-US" altLang="en-US" dirty="0">
              <a:latin typeface="Consolas" panose="020B0609020204030204" pitchFamily="49" charset="0"/>
            </a:endParaRPr>
          </a:p>
          <a:p>
            <a:pPr>
              <a:buFont typeface="Arial" panose="020B0604020202020204" pitchFamily="34" charset="0"/>
              <a:buNone/>
            </a:pPr>
            <a:r>
              <a:rPr lang="en-US" altLang="en-US" dirty="0">
                <a:latin typeface="Consolas" panose="020B0609020204030204" pitchFamily="49" charset="0"/>
              </a:rPr>
              <a:t>		Route path: /floats/:</a:t>
            </a:r>
            <a:r>
              <a:rPr lang="en-US" altLang="en-US" dirty="0" err="1">
                <a:latin typeface="Consolas" panose="020B0609020204030204" pitchFamily="49" charset="0"/>
              </a:rPr>
              <a:t>digit.:decimal</a:t>
            </a:r>
            <a:endParaRPr lang="en-US" altLang="en-US" dirty="0">
              <a:latin typeface="Consolas" panose="020B0609020204030204" pitchFamily="49" charset="0"/>
            </a:endParaRPr>
          </a:p>
          <a:p>
            <a:pPr>
              <a:buFont typeface="Arial" panose="020B0604020202020204" pitchFamily="34" charset="0"/>
              <a:buNone/>
            </a:pPr>
            <a:r>
              <a:rPr lang="en-US" altLang="en-US" dirty="0">
                <a:latin typeface="Consolas" panose="020B0609020204030204" pitchFamily="49" charset="0"/>
              </a:rPr>
              <a:t>		Request URL: http://localhost:3000/floats/123.45 </a:t>
            </a:r>
          </a:p>
          <a:p>
            <a:pPr>
              <a:buFont typeface="Arial" panose="020B0604020202020204" pitchFamily="34" charset="0"/>
              <a:buNone/>
            </a:pPr>
            <a:r>
              <a:rPr lang="en-US" altLang="en-US" dirty="0">
                <a:latin typeface="Consolas" panose="020B0609020204030204" pitchFamily="49" charset="0"/>
              </a:rPr>
              <a:t>		</a:t>
            </a:r>
            <a:r>
              <a:rPr lang="en-US" altLang="en-US" dirty="0" err="1">
                <a:latin typeface="Consolas" panose="020B0609020204030204" pitchFamily="49" charset="0"/>
              </a:rPr>
              <a:t>req.params</a:t>
            </a:r>
            <a:r>
              <a:rPr lang="en-US" altLang="en-US" dirty="0">
                <a:latin typeface="Consolas" panose="020B0609020204030204" pitchFamily="49" charset="0"/>
              </a:rPr>
              <a:t>: { "digit": "123", "decimal": "45" }</a:t>
            </a:r>
          </a:p>
          <a:p>
            <a:r>
              <a:rPr lang="en-US" altLang="en-US" dirty="0"/>
              <a:t>NOTE: The name of route parameters must be made up of “word characters” ([A-Za-z0-9</a:t>
            </a:r>
            <a:r>
              <a:rPr lang="en-US" altLang="en-US" dirty="0">
                <a:latin typeface="Consolas" panose="020B0609020204030204" pitchFamily="49" charset="0"/>
              </a:rPr>
              <a:t>_</a:t>
            </a:r>
            <a:r>
              <a:rPr lang="en-US" altLang="en-US" dirty="0"/>
              <a:t>]).</a:t>
            </a:r>
          </a:p>
          <a:p>
            <a:endParaRPr lang="en-US" dirty="0"/>
          </a:p>
        </p:txBody>
      </p:sp>
    </p:spTree>
    <p:extLst>
      <p:ext uri="{BB962C8B-B14F-4D97-AF65-F5344CB8AC3E}">
        <p14:creationId xmlns:p14="http://schemas.microsoft.com/office/powerpoint/2010/main" val="423194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Route Handlers </a:t>
            </a:r>
          </a:p>
        </p:txBody>
      </p:sp>
      <p:sp>
        <p:nvSpPr>
          <p:cNvPr id="3" name="Content Placeholder 2"/>
          <p:cNvSpPr>
            <a:spLocks noGrp="1"/>
          </p:cNvSpPr>
          <p:nvPr>
            <p:ph idx="1"/>
          </p:nvPr>
        </p:nvSpPr>
        <p:spPr/>
        <p:txBody>
          <a:bodyPr/>
          <a:lstStyle/>
          <a:p>
            <a:r>
              <a:rPr lang="en-US" altLang="en-US" dirty="0"/>
              <a:t>You can provide multiple callback functions that behave like middleware to handle a request. The only exception is that these callbacks might invoke next('route') to bypass the remaining route callbacks. You can use this mechanism to impose pre-conditions on a route, then pass control to subsequent routes if there’s no reason to proceed with the current route.</a:t>
            </a:r>
          </a:p>
          <a:p>
            <a:r>
              <a:rPr lang="en-US" altLang="en-US" dirty="0"/>
              <a:t>Route handlers can be in the form of a function, an array of functions, or combinations of both.</a:t>
            </a:r>
          </a:p>
          <a:p>
            <a:r>
              <a:rPr lang="en-US" altLang="en-US" dirty="0"/>
              <a:t>More than one callback function can handle a route (make sure you specify the next object). For example:</a:t>
            </a:r>
          </a:p>
          <a:p>
            <a:endParaRPr lang="en-US" altLang="en-US" dirty="0"/>
          </a:p>
          <a:p>
            <a:endParaRPr lang="en-US" altLang="en-US" dirty="0"/>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988995" y="3494684"/>
            <a:ext cx="9733638" cy="2062103"/>
          </a:xfrm>
          <a:prstGeom prst="rect">
            <a:avLst/>
          </a:prstGeom>
          <a:solidFill>
            <a:schemeClr val="bg1">
              <a:lumMod val="95000"/>
            </a:schemeClr>
          </a:solidFill>
          <a:ln>
            <a:noFill/>
          </a:ln>
        </p:spPr>
        <p:txBody>
          <a:bodyPr wrap="square">
            <a:spAutoFit/>
          </a:bodyPr>
          <a:lstStyle/>
          <a:p>
            <a:r>
              <a:rPr lang="en-US" sz="1600" dirty="0" err="1">
                <a:solidFill>
                  <a:srgbClr val="001080"/>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get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'/example/b'</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next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'the response will be sent by the next function ...'</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next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'Hello from B!'</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p:txBody>
      </p:sp>
      <p:sp>
        <p:nvSpPr>
          <p:cNvPr id="5" name="Rectangle 4">
            <a:extLst>
              <a:ext uri="{FF2B5EF4-FFF2-40B4-BE49-F238E27FC236}">
                <a16:creationId xmlns:a16="http://schemas.microsoft.com/office/drawing/2014/main" id="{35F9F4A0-4592-C04D-B2D0-0BF66A3BFA20}"/>
              </a:ext>
            </a:extLst>
          </p:cNvPr>
          <p:cNvSpPr/>
          <p:nvPr/>
        </p:nvSpPr>
        <p:spPr>
          <a:xfrm>
            <a:off x="489002" y="3494684"/>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p:txBody>
      </p:sp>
    </p:spTree>
    <p:extLst>
      <p:ext uri="{BB962C8B-B14F-4D97-AF65-F5344CB8AC3E}">
        <p14:creationId xmlns:p14="http://schemas.microsoft.com/office/powerpoint/2010/main" val="62654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Route Handlers (Cont.)</a:t>
            </a:r>
            <a:endParaRPr lang="en-US" dirty="0">
              <a:solidFill>
                <a:srgbClr val="FF0000"/>
              </a:solidFill>
            </a:endParaRPr>
          </a:p>
        </p:txBody>
      </p:sp>
      <p:sp>
        <p:nvSpPr>
          <p:cNvPr id="3" name="Content Placeholder 2"/>
          <p:cNvSpPr>
            <a:spLocks noGrp="1"/>
          </p:cNvSpPr>
          <p:nvPr>
            <p:ph idx="1"/>
          </p:nvPr>
        </p:nvSpPr>
        <p:spPr/>
        <p:txBody>
          <a:bodyPr/>
          <a:lstStyle/>
          <a:p>
            <a:r>
              <a:rPr lang="en-US" altLang="en-US" dirty="0"/>
              <a:t>An array of callback functions can handle a route. For example:</a:t>
            </a:r>
          </a:p>
          <a:p>
            <a:pPr>
              <a:buFont typeface="Arial" panose="020B0604020202020204" pitchFamily="34" charset="0"/>
              <a:buNone/>
            </a:pPr>
            <a:r>
              <a:rPr lang="en-US" altLang="en-US" dirty="0"/>
              <a:t>		</a:t>
            </a:r>
            <a:r>
              <a:rPr lang="en-US" altLang="en-US" sz="2000" dirty="0" err="1">
                <a:latin typeface="Consolas" panose="020B0609020204030204" pitchFamily="49" charset="0"/>
              </a:rPr>
              <a:t>var</a:t>
            </a:r>
            <a:r>
              <a:rPr lang="en-US" altLang="en-US" sz="2000" dirty="0">
                <a:latin typeface="Consolas" panose="020B0609020204030204" pitchFamily="49" charset="0"/>
              </a:rPr>
              <a:t> cb0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console.log('CB0'); next(); } </a:t>
            </a:r>
          </a:p>
          <a:p>
            <a:pPr>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var</a:t>
            </a:r>
            <a:r>
              <a:rPr lang="en-US" altLang="en-US" sz="2000" dirty="0">
                <a:latin typeface="Consolas" panose="020B0609020204030204" pitchFamily="49" charset="0"/>
              </a:rPr>
              <a:t> cb1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console.log('CB1'); next(); } 	</a:t>
            </a:r>
          </a:p>
          <a:p>
            <a:pPr>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var</a:t>
            </a:r>
            <a:r>
              <a:rPr lang="en-US" altLang="en-US" sz="2000" dirty="0">
                <a:latin typeface="Consolas" panose="020B0609020204030204" pitchFamily="49" charset="0"/>
              </a:rPr>
              <a:t> cb2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 </a:t>
            </a:r>
            <a:r>
              <a:rPr lang="en-US" altLang="en-US" sz="2000" dirty="0" err="1">
                <a:latin typeface="Consolas" panose="020B0609020204030204" pitchFamily="49" charset="0"/>
              </a:rPr>
              <a:t>res.send</a:t>
            </a:r>
            <a:r>
              <a:rPr lang="en-US" altLang="en-US" sz="2000" dirty="0">
                <a:latin typeface="Consolas" panose="020B0609020204030204" pitchFamily="49" charset="0"/>
              </a:rPr>
              <a:t>('Hello from C!'); } 	</a:t>
            </a:r>
          </a:p>
          <a:p>
            <a:pPr>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app.get</a:t>
            </a:r>
            <a:r>
              <a:rPr lang="en-US" altLang="en-US" sz="2000" dirty="0">
                <a:latin typeface="Consolas" panose="020B0609020204030204" pitchFamily="49" charset="0"/>
              </a:rPr>
              <a:t>('/example/c', [cb0, cb1, cb2]);</a:t>
            </a:r>
            <a:endParaRPr lang="en-US" altLang="en-US" dirty="0">
              <a:latin typeface="Consolas" panose="020B0609020204030204" pitchFamily="49" charset="0"/>
            </a:endParaRPr>
          </a:p>
          <a:p>
            <a:r>
              <a:rPr lang="en-US" altLang="en-US" dirty="0"/>
              <a:t>A combination of independent functions and arrays of functions can handle a route. For example:</a:t>
            </a:r>
          </a:p>
          <a:p>
            <a:pPr>
              <a:buNone/>
            </a:pPr>
            <a:r>
              <a:rPr lang="en-US" altLang="en-US" dirty="0"/>
              <a:t>		</a:t>
            </a:r>
            <a:r>
              <a:rPr lang="en-US" altLang="en-US" sz="2000" dirty="0" err="1">
                <a:latin typeface="Consolas" panose="020B0609020204030204" pitchFamily="49" charset="0"/>
              </a:rPr>
              <a:t>var</a:t>
            </a:r>
            <a:r>
              <a:rPr lang="en-US" altLang="en-US" sz="2000" dirty="0">
                <a:latin typeface="Consolas" panose="020B0609020204030204" pitchFamily="49" charset="0"/>
              </a:rPr>
              <a:t> cb0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console.log('CB0'); next(); } 	</a:t>
            </a:r>
          </a:p>
          <a:p>
            <a:pPr>
              <a:buNone/>
            </a:pPr>
            <a:r>
              <a:rPr lang="en-US" altLang="en-US" sz="2000" dirty="0">
                <a:latin typeface="Consolas" panose="020B0609020204030204" pitchFamily="49" charset="0"/>
              </a:rPr>
              <a:t>		</a:t>
            </a:r>
            <a:r>
              <a:rPr lang="en-US" altLang="en-US" sz="2000" dirty="0" err="1">
                <a:latin typeface="Consolas" panose="020B0609020204030204" pitchFamily="49" charset="0"/>
              </a:rPr>
              <a:t>var</a:t>
            </a:r>
            <a:r>
              <a:rPr lang="en-US" altLang="en-US" sz="2000" dirty="0">
                <a:latin typeface="Consolas" panose="020B0609020204030204" pitchFamily="49" charset="0"/>
              </a:rPr>
              <a:t> cb1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console.log('CB1'); next(); } 	</a:t>
            </a:r>
          </a:p>
          <a:p>
            <a:pPr>
              <a:buNone/>
            </a:pPr>
            <a:r>
              <a:rPr lang="en-US" altLang="en-US" sz="2000" dirty="0">
                <a:latin typeface="Consolas" panose="020B0609020204030204" pitchFamily="49" charset="0"/>
              </a:rPr>
              <a:t>		</a:t>
            </a:r>
            <a:r>
              <a:rPr lang="en-US" altLang="en-US" sz="2000" dirty="0" err="1">
                <a:latin typeface="Consolas" panose="020B0609020204030204" pitchFamily="49" charset="0"/>
              </a:rPr>
              <a:t>app.get</a:t>
            </a:r>
            <a:r>
              <a:rPr lang="en-US" altLang="en-US" sz="2000" dirty="0">
                <a:latin typeface="Consolas" panose="020B0609020204030204" pitchFamily="49" charset="0"/>
              </a:rPr>
              <a:t>('/example/d', [cb0, cb1],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p>
          <a:p>
            <a:pPr>
              <a:buNone/>
            </a:pPr>
            <a:r>
              <a:rPr lang="en-US" altLang="en-US" sz="2000" dirty="0">
                <a:latin typeface="Consolas" panose="020B0609020204030204" pitchFamily="49" charset="0"/>
              </a:rPr>
              <a:t>			console.log('the response will be sent by the next function ...'); 				next(); </a:t>
            </a:r>
          </a:p>
          <a:p>
            <a:pPr>
              <a:buNone/>
            </a:pPr>
            <a:r>
              <a:rPr lang="en-US" altLang="en-US" sz="2000" dirty="0">
                <a:latin typeface="Consolas" panose="020B0609020204030204" pitchFamily="49" charset="0"/>
              </a:rPr>
              <a:t>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 </a:t>
            </a:r>
            <a:r>
              <a:rPr lang="en-US" altLang="en-US" sz="2000" dirty="0" err="1">
                <a:latin typeface="Consolas" panose="020B0609020204030204" pitchFamily="49" charset="0"/>
              </a:rPr>
              <a:t>res.send</a:t>
            </a:r>
            <a:r>
              <a:rPr lang="en-US" altLang="en-US" sz="2000" dirty="0">
                <a:latin typeface="Consolas" panose="020B0609020204030204" pitchFamily="49" charset="0"/>
              </a:rPr>
              <a:t>('Hello from D!'); });</a:t>
            </a:r>
          </a:p>
          <a:p>
            <a:endParaRPr lang="en-US" altLang="en-US" dirty="0"/>
          </a:p>
          <a:p>
            <a:endParaRPr lang="en-US" dirty="0"/>
          </a:p>
        </p:txBody>
      </p:sp>
    </p:spTree>
    <p:extLst>
      <p:ext uri="{BB962C8B-B14F-4D97-AF65-F5344CB8AC3E}">
        <p14:creationId xmlns:p14="http://schemas.microsoft.com/office/powerpoint/2010/main" val="339482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Response Methods</a:t>
            </a:r>
            <a:endParaRPr lang="en-US" dirty="0"/>
          </a:p>
        </p:txBody>
      </p:sp>
      <p:sp>
        <p:nvSpPr>
          <p:cNvPr id="3" name="Content Placeholder 2"/>
          <p:cNvSpPr>
            <a:spLocks noGrp="1"/>
          </p:cNvSpPr>
          <p:nvPr>
            <p:ph idx="1"/>
          </p:nvPr>
        </p:nvSpPr>
        <p:spPr/>
        <p:txBody>
          <a:bodyPr/>
          <a:lstStyle/>
          <a:p>
            <a:r>
              <a:rPr lang="en-US" altLang="en-US" dirty="0"/>
              <a:t>The methods on the response object (res) in the following table can send a response to the client, and terminate the request-response cycle. If none of these methods are called from a route handler, </a:t>
            </a:r>
            <a:r>
              <a:rPr lang="en-US" altLang="en-US" b="1" dirty="0"/>
              <a:t>the client request will be left hanging.</a:t>
            </a:r>
          </a:p>
          <a:p>
            <a:endParaRPr lang="en-US" dirty="0"/>
          </a:p>
        </p:txBody>
      </p:sp>
      <p:graphicFrame>
        <p:nvGraphicFramePr>
          <p:cNvPr id="4" name="Content Placeholder 3"/>
          <p:cNvGraphicFramePr>
            <a:graphicFrameLocks/>
          </p:cNvGraphicFramePr>
          <p:nvPr>
            <p:extLst>
              <p:ext uri="{D42A27DB-BD31-4B8C-83A1-F6EECF244321}">
                <p14:modId xmlns:p14="http://schemas.microsoft.com/office/powerpoint/2010/main" val="3910188300"/>
              </p:ext>
            </p:extLst>
          </p:nvPr>
        </p:nvGraphicFramePr>
        <p:xfrm>
          <a:off x="475891" y="1980900"/>
          <a:ext cx="10515600" cy="4297834"/>
        </p:xfrm>
        <a:graphic>
          <a:graphicData uri="http://schemas.openxmlformats.org/drawingml/2006/table">
            <a:tbl>
              <a:tblPr firstRow="1" bandRow="1">
                <a:tableStyleId>{00A15C55-8517-42AA-B614-E9B94910E393}</a:tableStyleId>
              </a:tblPr>
              <a:tblGrid>
                <a:gridCol w="2275935">
                  <a:extLst>
                    <a:ext uri="{9D8B030D-6E8A-4147-A177-3AD203B41FA5}">
                      <a16:colId xmlns:a16="http://schemas.microsoft.com/office/drawing/2014/main" val="20000"/>
                    </a:ext>
                  </a:extLst>
                </a:gridCol>
                <a:gridCol w="8239665">
                  <a:extLst>
                    <a:ext uri="{9D8B030D-6E8A-4147-A177-3AD203B41FA5}">
                      <a16:colId xmlns:a16="http://schemas.microsoft.com/office/drawing/2014/main" val="20001"/>
                    </a:ext>
                  </a:extLst>
                </a:gridCol>
              </a:tblGrid>
              <a:tr h="185879">
                <a:tc>
                  <a:txBody>
                    <a:bodyPr/>
                    <a:lstStyle/>
                    <a:p>
                      <a:r>
                        <a:rPr lang="en-US" sz="1800" dirty="0"/>
                        <a:t>Method</a:t>
                      </a:r>
                    </a:p>
                  </a:txBody>
                  <a:tcPr marT="45727" marB="45727"/>
                </a:tc>
                <a:tc>
                  <a:txBody>
                    <a:bodyPr/>
                    <a:lstStyle/>
                    <a:p>
                      <a:r>
                        <a:rPr lang="en-US" sz="1800" dirty="0"/>
                        <a:t>Description</a:t>
                      </a:r>
                    </a:p>
                  </a:txBody>
                  <a:tcPr marT="45727" marB="45727"/>
                </a:tc>
                <a:extLst>
                  <a:ext uri="{0D108BD9-81ED-4DB2-BD59-A6C34878D82A}">
                    <a16:rowId xmlns:a16="http://schemas.microsoft.com/office/drawing/2014/main" val="10000"/>
                  </a:ext>
                </a:extLst>
              </a:tr>
              <a:tr h="185879">
                <a:tc>
                  <a:txBody>
                    <a:bodyPr/>
                    <a:lstStyle/>
                    <a:p>
                      <a:r>
                        <a:rPr lang="en-US" sz="1800" dirty="0" err="1"/>
                        <a:t>res.download</a:t>
                      </a:r>
                      <a:r>
                        <a:rPr lang="en-US" sz="1800" dirty="0"/>
                        <a:t>()</a:t>
                      </a:r>
                    </a:p>
                  </a:txBody>
                  <a:tcPr marT="45727" marB="45727"/>
                </a:tc>
                <a:tc>
                  <a:txBody>
                    <a:bodyPr/>
                    <a:lstStyle/>
                    <a:p>
                      <a:r>
                        <a:rPr lang="en-US" sz="1800" dirty="0"/>
                        <a:t>Prompt a file to be downloaded.</a:t>
                      </a:r>
                    </a:p>
                  </a:txBody>
                  <a:tcPr marT="45727" marB="45727"/>
                </a:tc>
                <a:extLst>
                  <a:ext uri="{0D108BD9-81ED-4DB2-BD59-A6C34878D82A}">
                    <a16:rowId xmlns:a16="http://schemas.microsoft.com/office/drawing/2014/main" val="10001"/>
                  </a:ext>
                </a:extLst>
              </a:tr>
              <a:tr h="185879">
                <a:tc>
                  <a:txBody>
                    <a:bodyPr/>
                    <a:lstStyle/>
                    <a:p>
                      <a:r>
                        <a:rPr lang="en-US" sz="1800" dirty="0" err="1"/>
                        <a:t>res.json</a:t>
                      </a:r>
                      <a:r>
                        <a:rPr lang="en-US" sz="1800" dirty="0"/>
                        <a:t>()</a:t>
                      </a:r>
                    </a:p>
                  </a:txBody>
                  <a:tcPr marT="45727" marB="45727"/>
                </a:tc>
                <a:tc>
                  <a:txBody>
                    <a:bodyPr/>
                    <a:lstStyle/>
                    <a:p>
                      <a:r>
                        <a:rPr lang="en-US" sz="1800" dirty="0"/>
                        <a:t>Send a JSON response.</a:t>
                      </a:r>
                    </a:p>
                  </a:txBody>
                  <a:tcPr marT="45727" marB="45727"/>
                </a:tc>
                <a:extLst>
                  <a:ext uri="{0D108BD9-81ED-4DB2-BD59-A6C34878D82A}">
                    <a16:rowId xmlns:a16="http://schemas.microsoft.com/office/drawing/2014/main" val="10003"/>
                  </a:ext>
                </a:extLst>
              </a:tr>
              <a:tr h="185879">
                <a:tc>
                  <a:txBody>
                    <a:bodyPr/>
                    <a:lstStyle/>
                    <a:p>
                      <a:r>
                        <a:rPr lang="en-US" sz="1800" dirty="0" err="1"/>
                        <a:t>res.jsonp</a:t>
                      </a:r>
                      <a:r>
                        <a:rPr lang="en-US" sz="1800" dirty="0"/>
                        <a:t>()</a:t>
                      </a:r>
                    </a:p>
                  </a:txBody>
                  <a:tcPr marT="45727" marB="45727"/>
                </a:tc>
                <a:tc>
                  <a:txBody>
                    <a:bodyPr/>
                    <a:lstStyle/>
                    <a:p>
                      <a:r>
                        <a:rPr lang="en-US" sz="1800" dirty="0"/>
                        <a:t>Send a JSON response with JSONP support.</a:t>
                      </a:r>
                    </a:p>
                  </a:txBody>
                  <a:tcPr marT="45727" marB="45727"/>
                </a:tc>
                <a:extLst>
                  <a:ext uri="{0D108BD9-81ED-4DB2-BD59-A6C34878D82A}">
                    <a16:rowId xmlns:a16="http://schemas.microsoft.com/office/drawing/2014/main" val="10004"/>
                  </a:ext>
                </a:extLst>
              </a:tr>
              <a:tr h="185879">
                <a:tc>
                  <a:txBody>
                    <a:bodyPr/>
                    <a:lstStyle/>
                    <a:p>
                      <a:r>
                        <a:rPr lang="en-US" sz="1800" dirty="0" err="1"/>
                        <a:t>res.redirect</a:t>
                      </a:r>
                      <a:r>
                        <a:rPr lang="en-US" sz="1800" dirty="0"/>
                        <a:t>()</a:t>
                      </a:r>
                    </a:p>
                  </a:txBody>
                  <a:tcPr marT="45727" marB="45727"/>
                </a:tc>
                <a:tc>
                  <a:txBody>
                    <a:bodyPr/>
                    <a:lstStyle/>
                    <a:p>
                      <a:r>
                        <a:rPr lang="en-US" sz="1800" dirty="0"/>
                        <a:t>Redirect a request.</a:t>
                      </a:r>
                    </a:p>
                  </a:txBody>
                  <a:tcPr marT="45727" marB="45727"/>
                </a:tc>
                <a:extLst>
                  <a:ext uri="{0D108BD9-81ED-4DB2-BD59-A6C34878D82A}">
                    <a16:rowId xmlns:a16="http://schemas.microsoft.com/office/drawing/2014/main" val="10005"/>
                  </a:ext>
                </a:extLst>
              </a:tr>
              <a:tr h="185879">
                <a:tc>
                  <a:txBody>
                    <a:bodyPr/>
                    <a:lstStyle/>
                    <a:p>
                      <a:r>
                        <a:rPr lang="en-US" sz="1800" dirty="0" err="1"/>
                        <a:t>res.render</a:t>
                      </a:r>
                      <a:r>
                        <a:rPr lang="en-US" sz="1800" dirty="0"/>
                        <a:t>()</a:t>
                      </a:r>
                    </a:p>
                  </a:txBody>
                  <a:tcPr marT="45727" marB="45727"/>
                </a:tc>
                <a:tc>
                  <a:txBody>
                    <a:bodyPr/>
                    <a:lstStyle/>
                    <a:p>
                      <a:r>
                        <a:rPr lang="en-US" sz="1800" dirty="0"/>
                        <a:t>Render a review template.</a:t>
                      </a:r>
                    </a:p>
                  </a:txBody>
                  <a:tcPr marT="45727" marB="45727"/>
                </a:tc>
                <a:extLst>
                  <a:ext uri="{0D108BD9-81ED-4DB2-BD59-A6C34878D82A}">
                    <a16:rowId xmlns:a16="http://schemas.microsoft.com/office/drawing/2014/main" val="10006"/>
                  </a:ext>
                </a:extLst>
              </a:tr>
              <a:tr h="185879">
                <a:tc>
                  <a:txBody>
                    <a:bodyPr/>
                    <a:lstStyle/>
                    <a:p>
                      <a:r>
                        <a:rPr lang="en-US" sz="1800" dirty="0" err="1"/>
                        <a:t>res.write</a:t>
                      </a:r>
                      <a:r>
                        <a:rPr lang="en-US" sz="1800" dirty="0"/>
                        <a:t>()</a:t>
                      </a:r>
                    </a:p>
                  </a:txBody>
                  <a:tcPr marT="45727" marB="45727"/>
                </a:tc>
                <a:tc>
                  <a:txBody>
                    <a:bodyPr/>
                    <a:lstStyle/>
                    <a:p>
                      <a:r>
                        <a:rPr lang="en-US" sz="1800" dirty="0"/>
                        <a:t>Write</a:t>
                      </a:r>
                      <a:r>
                        <a:rPr lang="en-US" sz="1800" baseline="0" dirty="0"/>
                        <a:t> into output stream. (will not terminate </a:t>
                      </a:r>
                      <a:r>
                        <a:rPr lang="en-US" sz="1800" baseline="0" dirty="0" err="1"/>
                        <a:t>req</a:t>
                      </a:r>
                      <a:r>
                        <a:rPr lang="en-US" sz="1800" baseline="0" dirty="0"/>
                        <a:t>-res </a:t>
                      </a:r>
                      <a:r>
                        <a:rPr lang="en-US" sz="1800" baseline="0"/>
                        <a:t>cycle, must </a:t>
                      </a:r>
                      <a:r>
                        <a:rPr lang="en-US" sz="1800" baseline="0" dirty="0"/>
                        <a:t>write </a:t>
                      </a:r>
                      <a:r>
                        <a:rPr lang="en-US" sz="1800" b="1" baseline="0" dirty="0"/>
                        <a:t>end </a:t>
                      </a:r>
                      <a:r>
                        <a:rPr lang="en-US" sz="1800" baseline="0" dirty="0"/>
                        <a:t>method after writing)</a:t>
                      </a:r>
                      <a:endParaRPr lang="en-US" sz="1800" dirty="0"/>
                    </a:p>
                  </a:txBody>
                  <a:tcPr marT="45727" marB="45727"/>
                </a:tc>
                <a:extLst>
                  <a:ext uri="{0D108BD9-81ED-4DB2-BD59-A6C34878D82A}">
                    <a16:rowId xmlns:a16="http://schemas.microsoft.com/office/drawing/2014/main" val="3780312856"/>
                  </a:ext>
                </a:extLst>
              </a:tr>
              <a:tr h="185879">
                <a:tc>
                  <a:txBody>
                    <a:bodyPr/>
                    <a:lstStyle/>
                    <a:p>
                      <a:r>
                        <a:rPr lang="en-US" sz="1800" dirty="0" err="1"/>
                        <a:t>res.send</a:t>
                      </a:r>
                      <a:r>
                        <a:rPr lang="en-US" sz="1800" dirty="0"/>
                        <a:t>()</a:t>
                      </a:r>
                    </a:p>
                  </a:txBody>
                  <a:tcPr marT="45727" marB="45727"/>
                </a:tc>
                <a:tc>
                  <a:txBody>
                    <a:bodyPr/>
                    <a:lstStyle/>
                    <a:p>
                      <a:r>
                        <a:rPr lang="en-US" sz="1800" dirty="0"/>
                        <a:t>Send a response of various types.</a:t>
                      </a:r>
                    </a:p>
                  </a:txBody>
                  <a:tcPr marT="45727" marB="45727"/>
                </a:tc>
                <a:extLst>
                  <a:ext uri="{0D108BD9-81ED-4DB2-BD59-A6C34878D82A}">
                    <a16:rowId xmlns:a16="http://schemas.microsoft.com/office/drawing/2014/main" val="10007"/>
                  </a:ext>
                </a:extLst>
              </a:tr>
              <a:tr h="185879">
                <a:tc>
                  <a:txBody>
                    <a:bodyPr/>
                    <a:lstStyle/>
                    <a:p>
                      <a:r>
                        <a:rPr lang="en-US" sz="1800" dirty="0" err="1"/>
                        <a:t>res.sendFile</a:t>
                      </a:r>
                      <a:r>
                        <a:rPr lang="en-US" sz="1800" dirty="0"/>
                        <a:t>()</a:t>
                      </a:r>
                    </a:p>
                  </a:txBody>
                  <a:tcPr marT="45727" marB="45727"/>
                </a:tc>
                <a:tc>
                  <a:txBody>
                    <a:bodyPr/>
                    <a:lstStyle/>
                    <a:p>
                      <a:r>
                        <a:rPr lang="en-US" sz="1800" dirty="0"/>
                        <a:t>Send a</a:t>
                      </a:r>
                      <a:r>
                        <a:rPr lang="en-US" sz="1800" baseline="0" dirty="0"/>
                        <a:t> file as an octet stream.</a:t>
                      </a:r>
                      <a:endParaRPr lang="en-US" sz="1800" dirty="0"/>
                    </a:p>
                  </a:txBody>
                  <a:tcPr marT="45727" marB="45727"/>
                </a:tc>
                <a:extLst>
                  <a:ext uri="{0D108BD9-81ED-4DB2-BD59-A6C34878D82A}">
                    <a16:rowId xmlns:a16="http://schemas.microsoft.com/office/drawing/2014/main" val="10008"/>
                  </a:ext>
                </a:extLst>
              </a:tr>
              <a:tr h="305713">
                <a:tc>
                  <a:txBody>
                    <a:bodyPr/>
                    <a:lstStyle/>
                    <a:p>
                      <a:r>
                        <a:rPr lang="en-US" sz="1800" dirty="0" err="1"/>
                        <a:t>res.sendStatus</a:t>
                      </a:r>
                      <a:r>
                        <a:rPr lang="en-US" sz="1800" dirty="0"/>
                        <a:t>()</a:t>
                      </a:r>
                    </a:p>
                  </a:txBody>
                  <a:tcPr marT="45727" marB="45727"/>
                </a:tc>
                <a:tc>
                  <a:txBody>
                    <a:bodyPr/>
                    <a:lstStyle/>
                    <a:p>
                      <a:r>
                        <a:rPr lang="en-US" sz="1800" dirty="0"/>
                        <a:t>Set the response status code and send its string representation</a:t>
                      </a:r>
                      <a:r>
                        <a:rPr lang="en-US" sz="1800" baseline="0" dirty="0"/>
                        <a:t> as the response body.</a:t>
                      </a:r>
                      <a:endParaRPr lang="en-US" sz="1800" dirty="0"/>
                    </a:p>
                  </a:txBody>
                  <a:tcPr marT="45727" marB="45727"/>
                </a:tc>
                <a:extLst>
                  <a:ext uri="{0D108BD9-81ED-4DB2-BD59-A6C34878D82A}">
                    <a16:rowId xmlns:a16="http://schemas.microsoft.com/office/drawing/2014/main" val="10009"/>
                  </a:ext>
                </a:extLst>
              </a:tr>
              <a:tr h="305713">
                <a:tc>
                  <a:txBody>
                    <a:bodyPr/>
                    <a:lstStyle/>
                    <a:p>
                      <a:r>
                        <a:rPr lang="en-US" sz="1800" dirty="0" err="1"/>
                        <a:t>res.end</a:t>
                      </a:r>
                      <a:r>
                        <a:rPr lang="en-US" sz="1800" dirty="0"/>
                        <a:t>()</a:t>
                      </a:r>
                    </a:p>
                  </a:txBody>
                  <a:tcPr marT="45727" marB="45727"/>
                </a:tc>
                <a:tc>
                  <a:txBody>
                    <a:bodyPr/>
                    <a:lstStyle/>
                    <a:p>
                      <a:r>
                        <a:rPr lang="en-US" sz="1800" dirty="0"/>
                        <a:t>End the response process.</a:t>
                      </a:r>
                    </a:p>
                  </a:txBody>
                  <a:tcPr marT="45727" marB="45727"/>
                </a:tc>
                <a:extLst>
                  <a:ext uri="{0D108BD9-81ED-4DB2-BD59-A6C34878D82A}">
                    <a16:rowId xmlns:a16="http://schemas.microsoft.com/office/drawing/2014/main" val="889755041"/>
                  </a:ext>
                </a:extLst>
              </a:tr>
            </a:tbl>
          </a:graphicData>
        </a:graphic>
      </p:graphicFrame>
    </p:spTree>
    <p:extLst>
      <p:ext uri="{BB962C8B-B14F-4D97-AF65-F5344CB8AC3E}">
        <p14:creationId xmlns:p14="http://schemas.microsoft.com/office/powerpoint/2010/main" val="551966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Express Middleware</a:t>
            </a:r>
            <a:endParaRPr lang="en-US" dirty="0"/>
          </a:p>
        </p:txBody>
      </p:sp>
      <p:sp>
        <p:nvSpPr>
          <p:cNvPr id="3" name="Content Placeholder 2"/>
          <p:cNvSpPr>
            <a:spLocks noGrp="1"/>
          </p:cNvSpPr>
          <p:nvPr>
            <p:ph idx="1"/>
          </p:nvPr>
        </p:nvSpPr>
        <p:spPr/>
        <p:txBody>
          <a:bodyPr/>
          <a:lstStyle/>
          <a:p>
            <a:r>
              <a:rPr lang="en-US" altLang="en-US" b="1" i="1" dirty="0"/>
              <a:t>Middleware</a:t>
            </a:r>
            <a:r>
              <a:rPr lang="en-US" altLang="en-US" dirty="0"/>
              <a:t> functions are functions that have access to the request object (</a:t>
            </a:r>
            <a:r>
              <a:rPr lang="en-US" altLang="en-US" dirty="0" err="1"/>
              <a:t>req</a:t>
            </a:r>
            <a:r>
              <a:rPr lang="en-US" altLang="en-US" dirty="0"/>
              <a:t>), the response object (res), and the next middleware function in the application’s request-response cycle. The next middleware function is commonly denoted by a variable named next.</a:t>
            </a:r>
          </a:p>
          <a:p>
            <a:r>
              <a:rPr lang="en-US" altLang="en-US" dirty="0"/>
              <a:t>Middleware functions can perform the following tasks:</a:t>
            </a:r>
          </a:p>
          <a:p>
            <a:pPr lvl="1"/>
            <a:r>
              <a:rPr lang="en-US" altLang="en-US" dirty="0"/>
              <a:t>Execute any code.</a:t>
            </a:r>
          </a:p>
          <a:p>
            <a:pPr lvl="1"/>
            <a:r>
              <a:rPr lang="en-US" altLang="en-US" dirty="0"/>
              <a:t>Make changes to the request and the response objects.</a:t>
            </a:r>
          </a:p>
          <a:p>
            <a:pPr lvl="1"/>
            <a:r>
              <a:rPr lang="en-US" altLang="en-US" dirty="0"/>
              <a:t>End the request-response cycle.</a:t>
            </a:r>
          </a:p>
          <a:p>
            <a:pPr lvl="1"/>
            <a:r>
              <a:rPr lang="en-US" altLang="en-US" dirty="0"/>
              <a:t>Call the next middleware in the stack.</a:t>
            </a:r>
          </a:p>
          <a:p>
            <a:r>
              <a:rPr lang="en-US" altLang="en-US" dirty="0"/>
              <a:t>If the current middleware function does not end the request-response cycle, it must call next() to pass control to the next middleware function. Otherwise, the request will be left hanging.</a:t>
            </a:r>
          </a:p>
          <a:p>
            <a:endParaRPr lang="en-US" altLang="en-US" dirty="0"/>
          </a:p>
          <a:p>
            <a:endParaRPr lang="en-US" dirty="0"/>
          </a:p>
        </p:txBody>
      </p:sp>
    </p:spTree>
    <p:extLst>
      <p:ext uri="{BB962C8B-B14F-4D97-AF65-F5344CB8AC3E}">
        <p14:creationId xmlns:p14="http://schemas.microsoft.com/office/powerpoint/2010/main" val="383910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Express Middleware (Cont.)</a:t>
            </a:r>
            <a:endParaRPr lang="en-US" dirty="0"/>
          </a:p>
        </p:txBody>
      </p:sp>
      <p:sp>
        <p:nvSpPr>
          <p:cNvPr id="3" name="Content Placeholder 2"/>
          <p:cNvSpPr>
            <a:spLocks noGrp="1"/>
          </p:cNvSpPr>
          <p:nvPr>
            <p:ph idx="1"/>
          </p:nvPr>
        </p:nvSpPr>
        <p:spPr/>
        <p:txBody>
          <a:bodyPr/>
          <a:lstStyle/>
          <a:p>
            <a:r>
              <a:rPr lang="en-US" altLang="en-US" dirty="0"/>
              <a:t>The following shows the elements of a middleware function call:</a:t>
            </a:r>
          </a:p>
          <a:p>
            <a:pPr>
              <a:lnSpc>
                <a:spcPct val="100000"/>
              </a:lnSpc>
              <a:spcBef>
                <a:spcPts val="0"/>
              </a:spcBef>
              <a:buFont typeface="Arial" panose="020B0604020202020204" pitchFamily="34" charset="0"/>
              <a:buNone/>
            </a:pPr>
            <a:r>
              <a:rPr lang="en-US" altLang="en-US" dirty="0"/>
              <a:t>		</a:t>
            </a:r>
            <a:r>
              <a:rPr lang="en-US" altLang="en-US" sz="2000" dirty="0" err="1">
                <a:latin typeface="Consolas" panose="020B0609020204030204" pitchFamily="49" charset="0"/>
              </a:rPr>
              <a:t>var</a:t>
            </a:r>
            <a:r>
              <a:rPr lang="en-US" altLang="en-US" sz="2000" dirty="0">
                <a:latin typeface="Consolas" panose="020B0609020204030204" pitchFamily="49" charset="0"/>
              </a:rPr>
              <a:t> express = require('express');</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var</a:t>
            </a:r>
            <a:r>
              <a:rPr lang="en-US" altLang="en-US" sz="2000" dirty="0">
                <a:latin typeface="Consolas" panose="020B0609020204030204" pitchFamily="49" charset="0"/>
              </a:rPr>
              <a:t> app = express();</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app.get</a:t>
            </a:r>
            <a:r>
              <a:rPr lang="en-US" altLang="en-US" sz="2000" dirty="0">
                <a:latin typeface="Consolas" panose="020B0609020204030204" pitchFamily="49" charset="0"/>
              </a:rPr>
              <a:t>('/', function(</a:t>
            </a:r>
            <a:r>
              <a:rPr lang="en-US" altLang="en-US" sz="2000" dirty="0" err="1">
                <a:latin typeface="Consolas" panose="020B0609020204030204" pitchFamily="49" charset="0"/>
              </a:rPr>
              <a:t>req</a:t>
            </a:r>
            <a:r>
              <a:rPr lang="en-US" altLang="en-US" sz="2000" dirty="0">
                <a:latin typeface="Consolas" panose="020B0609020204030204" pitchFamily="49" charset="0"/>
              </a:rPr>
              <a:t>, res, next)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next();</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app.listen</a:t>
            </a:r>
            <a:r>
              <a:rPr lang="en-US" altLang="en-US" sz="2000" dirty="0">
                <a:latin typeface="Consolas" panose="020B0609020204030204" pitchFamily="49" charset="0"/>
              </a:rPr>
              <a:t>(3000);</a:t>
            </a:r>
          </a:p>
          <a:p>
            <a:r>
              <a:rPr lang="en-US" altLang="en-US" dirty="0"/>
              <a:t>Where </a:t>
            </a:r>
          </a:p>
          <a:p>
            <a:pPr lvl="1"/>
            <a:r>
              <a:rPr lang="en-US" altLang="en-US" dirty="0"/>
              <a:t>get: HTTP method for which the middleware function applies.</a:t>
            </a:r>
          </a:p>
          <a:p>
            <a:pPr lvl="1"/>
            <a:r>
              <a:rPr lang="en-US" altLang="en-US" dirty="0"/>
              <a:t>'/': Path (route) for which the middleware function applies.</a:t>
            </a:r>
          </a:p>
          <a:p>
            <a:pPr lvl="1"/>
            <a:r>
              <a:rPr lang="en-US" altLang="en-US" dirty="0"/>
              <a:t>function (): The middleware function.</a:t>
            </a:r>
          </a:p>
          <a:p>
            <a:pPr lvl="1"/>
            <a:r>
              <a:rPr lang="en-US" altLang="en-US" dirty="0" err="1"/>
              <a:t>req</a:t>
            </a:r>
            <a:r>
              <a:rPr lang="en-US" altLang="en-US" dirty="0"/>
              <a:t>: HTTP request argument to the middleware function.</a:t>
            </a:r>
          </a:p>
          <a:p>
            <a:pPr lvl="1"/>
            <a:r>
              <a:rPr lang="en-US" altLang="en-US" dirty="0"/>
              <a:t>res: HTTP response argument to the middleware function.</a:t>
            </a:r>
          </a:p>
          <a:p>
            <a:pPr lvl="1"/>
            <a:r>
              <a:rPr lang="en-US" altLang="en-US" dirty="0"/>
              <a:t>next: Callback argument to the middleware function.</a:t>
            </a:r>
          </a:p>
        </p:txBody>
      </p:sp>
    </p:spTree>
    <p:extLst>
      <p:ext uri="{BB962C8B-B14F-4D97-AF65-F5344CB8AC3E}">
        <p14:creationId xmlns:p14="http://schemas.microsoft.com/office/powerpoint/2010/main" val="357628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app.use() method</a:t>
            </a:r>
            <a:endParaRPr lang="en-US" dirty="0"/>
          </a:p>
        </p:txBody>
      </p:sp>
      <p:sp>
        <p:nvSpPr>
          <p:cNvPr id="3" name="Content Placeholder 2"/>
          <p:cNvSpPr>
            <a:spLocks noGrp="1"/>
          </p:cNvSpPr>
          <p:nvPr>
            <p:ph idx="1"/>
          </p:nvPr>
        </p:nvSpPr>
        <p:spPr/>
        <p:txBody>
          <a:bodyPr/>
          <a:lstStyle/>
          <a:p>
            <a:pPr>
              <a:defRPr/>
            </a:pPr>
            <a:r>
              <a:rPr lang="en-US" b="1" dirty="0"/>
              <a:t>app.use([path,] function [, function...])</a:t>
            </a:r>
          </a:p>
          <a:p>
            <a:pPr lvl="1">
              <a:defRPr/>
            </a:pPr>
            <a:r>
              <a:rPr lang="en-US" altLang="en-US" dirty="0"/>
              <a:t>Mounts the specified middleware function or functions at the specified path. If path is not specified, it defaults to '/'.</a:t>
            </a:r>
          </a:p>
          <a:p>
            <a:pPr lvl="1">
              <a:defRPr/>
            </a:pPr>
            <a:r>
              <a:rPr lang="en-US" altLang="en-US" dirty="0"/>
              <a:t>NOTE: A route will match any path that follows its path immediately with a “/”. For example, app.use('/apple', …) will match “/apple”, “/apple/images”, “/apple/images/news”, and so on.</a:t>
            </a:r>
          </a:p>
          <a:p>
            <a:pPr>
              <a:defRPr/>
            </a:pPr>
            <a:r>
              <a:rPr lang="en-US" altLang="en-US" dirty="0"/>
              <a:t>Example:</a:t>
            </a:r>
          </a:p>
          <a:p>
            <a:pPr lvl="1">
              <a:lnSpc>
                <a:spcPct val="100000"/>
              </a:lnSpc>
              <a:spcBef>
                <a:spcPts val="0"/>
              </a:spcBef>
              <a:buNone/>
              <a:defRPr/>
            </a:pPr>
            <a:r>
              <a:rPr lang="en-US" altLang="en-US" dirty="0"/>
              <a:t>	</a:t>
            </a:r>
            <a:r>
              <a:rPr lang="en-US" altLang="en-US" dirty="0">
                <a:latin typeface="Consolas" panose="020B0609020204030204" pitchFamily="49" charset="0"/>
              </a:rPr>
              <a:t>app.use('/admin', function(</a:t>
            </a:r>
            <a:r>
              <a:rPr lang="en-US" altLang="en-US" dirty="0" err="1">
                <a:latin typeface="Consolas" panose="020B0609020204030204" pitchFamily="49" charset="0"/>
              </a:rPr>
              <a:t>req</a:t>
            </a:r>
            <a:r>
              <a:rPr lang="en-US" altLang="en-US" dirty="0">
                <a:latin typeface="Consolas" panose="020B0609020204030204" pitchFamily="49" charset="0"/>
              </a:rPr>
              <a:t>, res, next) { </a:t>
            </a:r>
          </a:p>
          <a:p>
            <a:pPr lvl="2">
              <a:lnSpc>
                <a:spcPct val="100000"/>
              </a:lnSpc>
              <a:spcBef>
                <a:spcPts val="0"/>
              </a:spcBef>
              <a:buNone/>
              <a:defRPr/>
            </a:pPr>
            <a:r>
              <a:rPr lang="en-US" altLang="en-US" dirty="0">
                <a:latin typeface="Consolas" panose="020B0609020204030204" pitchFamily="49" charset="0"/>
              </a:rPr>
              <a:t>	</a:t>
            </a:r>
            <a:r>
              <a:rPr lang="en-US" altLang="en-US" sz="2000" dirty="0">
                <a:latin typeface="Consolas" panose="020B0609020204030204" pitchFamily="49" charset="0"/>
              </a:rPr>
              <a:t>// GET 'http://www.example.com/admin/new' 	</a:t>
            </a:r>
          </a:p>
          <a:p>
            <a:pPr lvl="2">
              <a:lnSpc>
                <a:spcPct val="100000"/>
              </a:lnSpc>
              <a:spcBef>
                <a:spcPts val="0"/>
              </a:spcBef>
              <a:buNone/>
              <a:defRPr/>
            </a:pPr>
            <a:r>
              <a:rPr lang="en-US" altLang="en-US" sz="2000" dirty="0">
                <a:latin typeface="Consolas" panose="020B0609020204030204" pitchFamily="49" charset="0"/>
              </a:rPr>
              <a:t>	console.log(</a:t>
            </a:r>
            <a:r>
              <a:rPr lang="en-US" altLang="en-US" sz="2000" dirty="0" err="1">
                <a:latin typeface="Consolas" panose="020B0609020204030204" pitchFamily="49" charset="0"/>
              </a:rPr>
              <a:t>req.originalUrl</a:t>
            </a:r>
            <a:r>
              <a:rPr lang="en-US" altLang="en-US" sz="2000" dirty="0">
                <a:latin typeface="Consolas" panose="020B0609020204030204" pitchFamily="49" charset="0"/>
              </a:rPr>
              <a:t>); // '/admin/new' </a:t>
            </a:r>
          </a:p>
          <a:p>
            <a:pPr lvl="2">
              <a:lnSpc>
                <a:spcPct val="100000"/>
              </a:lnSpc>
              <a:spcBef>
                <a:spcPts val="0"/>
              </a:spcBef>
              <a:buNone/>
              <a:defRPr/>
            </a:pPr>
            <a:r>
              <a:rPr lang="en-US" altLang="en-US" sz="2000" dirty="0">
                <a:latin typeface="Consolas" panose="020B0609020204030204" pitchFamily="49" charset="0"/>
              </a:rPr>
              <a:t>	console.log(</a:t>
            </a:r>
            <a:r>
              <a:rPr lang="en-US" altLang="en-US" sz="2000" dirty="0" err="1">
                <a:latin typeface="Consolas" panose="020B0609020204030204" pitchFamily="49" charset="0"/>
              </a:rPr>
              <a:t>req.baseUrl</a:t>
            </a:r>
            <a:r>
              <a:rPr lang="en-US" altLang="en-US" sz="2000" dirty="0">
                <a:latin typeface="Consolas" panose="020B0609020204030204" pitchFamily="49" charset="0"/>
              </a:rPr>
              <a:t>); // '/admin' </a:t>
            </a:r>
          </a:p>
          <a:p>
            <a:pPr lvl="2">
              <a:lnSpc>
                <a:spcPct val="100000"/>
              </a:lnSpc>
              <a:spcBef>
                <a:spcPts val="0"/>
              </a:spcBef>
              <a:buNone/>
              <a:defRPr/>
            </a:pPr>
            <a:r>
              <a:rPr lang="en-US" altLang="en-US" sz="2000" dirty="0">
                <a:latin typeface="Consolas" panose="020B0609020204030204" pitchFamily="49" charset="0"/>
              </a:rPr>
              <a:t>	console.log(</a:t>
            </a:r>
            <a:r>
              <a:rPr lang="en-US" altLang="en-US" sz="2000" dirty="0" err="1">
                <a:latin typeface="Consolas" panose="020B0609020204030204" pitchFamily="49" charset="0"/>
              </a:rPr>
              <a:t>req.path</a:t>
            </a:r>
            <a:r>
              <a:rPr lang="en-US" altLang="en-US" sz="2000" dirty="0">
                <a:latin typeface="Consolas" panose="020B0609020204030204" pitchFamily="49" charset="0"/>
              </a:rPr>
              <a:t>); // '/new' </a:t>
            </a:r>
          </a:p>
          <a:p>
            <a:pPr lvl="2">
              <a:lnSpc>
                <a:spcPct val="100000"/>
              </a:lnSpc>
              <a:spcBef>
                <a:spcPts val="0"/>
              </a:spcBef>
              <a:buNone/>
              <a:defRPr/>
            </a:pPr>
            <a:r>
              <a:rPr lang="en-US" altLang="en-US" sz="2000" dirty="0">
                <a:latin typeface="Consolas" panose="020B0609020204030204" pitchFamily="49" charset="0"/>
              </a:rPr>
              <a:t>	n</a:t>
            </a:r>
            <a:r>
              <a:rPr lang="en-US" altLang="en-US" dirty="0">
                <a:latin typeface="Consolas" panose="020B0609020204030204" pitchFamily="49" charset="0"/>
              </a:rPr>
              <a:t>ext(); </a:t>
            </a:r>
          </a:p>
          <a:p>
            <a:pPr lvl="2">
              <a:lnSpc>
                <a:spcPct val="100000"/>
              </a:lnSpc>
              <a:spcBef>
                <a:spcPts val="0"/>
              </a:spcBef>
              <a:buNone/>
              <a:defRPr/>
            </a:pPr>
            <a:r>
              <a:rPr lang="en-US" altLang="en-US" sz="2000" dirty="0">
                <a:latin typeface="Consolas" panose="020B0609020204030204" pitchFamily="49" charset="0"/>
              </a:rPr>
              <a:t>});</a:t>
            </a:r>
            <a:r>
              <a:rPr lang="en-US" altLang="en-US" sz="1400" dirty="0">
                <a:latin typeface="Consolas" panose="020B0609020204030204" pitchFamily="49" charset="0"/>
              </a:rPr>
              <a:t> </a:t>
            </a:r>
          </a:p>
          <a:p>
            <a:pPr>
              <a:defRPr/>
            </a:pPr>
            <a:r>
              <a:rPr lang="en-US" altLang="en-US" dirty="0">
                <a:solidFill>
                  <a:srgbClr val="333333"/>
                </a:solidFill>
              </a:rPr>
              <a:t>Mounting a middleware function at a path will cause the middleware function to be executed whenever the base of the requested path matches the path.	</a:t>
            </a:r>
          </a:p>
          <a:p>
            <a:pPr>
              <a:defRPr/>
            </a:pPr>
            <a:endParaRPr lang="en-US" altLang="en-US" dirty="0"/>
          </a:p>
          <a:p>
            <a:endParaRPr lang="en-US" dirty="0"/>
          </a:p>
        </p:txBody>
      </p:sp>
    </p:spTree>
    <p:extLst>
      <p:ext uri="{BB962C8B-B14F-4D97-AF65-F5344CB8AC3E}">
        <p14:creationId xmlns:p14="http://schemas.microsoft.com/office/powerpoint/2010/main" val="323201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app.use() method (Cont.)</a:t>
            </a:r>
            <a:endParaRPr lang="en-US" dirty="0"/>
          </a:p>
        </p:txBody>
      </p:sp>
      <p:sp>
        <p:nvSpPr>
          <p:cNvPr id="3" name="Content Placeholder 2"/>
          <p:cNvSpPr>
            <a:spLocks noGrp="1"/>
          </p:cNvSpPr>
          <p:nvPr>
            <p:ph idx="1"/>
          </p:nvPr>
        </p:nvSpPr>
        <p:spPr/>
        <p:txBody>
          <a:bodyPr/>
          <a:lstStyle/>
          <a:p>
            <a:pPr>
              <a:defRPr/>
            </a:pPr>
            <a:r>
              <a:rPr lang="en-US" dirty="0"/>
              <a:t>Since path defaults to “/”, middleware mounted without a path will be executed for every request to the app.</a:t>
            </a:r>
          </a:p>
          <a:p>
            <a:pPr marL="0" indent="0">
              <a:buFont typeface="Arial" panose="020B0604020202020204" pitchFamily="34" charset="0"/>
              <a:buNone/>
              <a:defRPr/>
            </a:pPr>
            <a:r>
              <a:rPr lang="en-US" dirty="0"/>
              <a:t>	</a:t>
            </a:r>
            <a:r>
              <a:rPr lang="en-US" altLang="en-US" sz="2000" dirty="0">
                <a:solidFill>
                  <a:srgbClr val="333333"/>
                </a:solidFill>
                <a:latin typeface="Consolas" panose="020B0609020204030204" pitchFamily="49" charset="0"/>
              </a:rPr>
              <a:t>// this middleware will be executed for every request to the app </a:t>
            </a:r>
          </a:p>
          <a:p>
            <a:pPr marL="0" indent="0">
              <a:buFont typeface="Arial" panose="020B0604020202020204" pitchFamily="34" charset="0"/>
              <a:buNone/>
              <a:defRPr/>
            </a:pPr>
            <a:r>
              <a:rPr lang="en-US" altLang="en-US" sz="2000" dirty="0">
                <a:solidFill>
                  <a:srgbClr val="333333"/>
                </a:solidFill>
                <a:latin typeface="Consolas" panose="020B0609020204030204" pitchFamily="49" charset="0"/>
              </a:rPr>
              <a:t>	</a:t>
            </a:r>
            <a:r>
              <a:rPr lang="en-US" altLang="en-US" sz="2000" dirty="0" err="1">
                <a:solidFill>
                  <a:srgbClr val="333333"/>
                </a:solidFill>
                <a:latin typeface="Consolas" panose="020B0609020204030204" pitchFamily="49" charset="0"/>
              </a:rPr>
              <a:t>app.use</a:t>
            </a:r>
            <a:r>
              <a:rPr lang="en-US" altLang="en-US" sz="2000" dirty="0">
                <a:solidFill>
                  <a:srgbClr val="333333"/>
                </a:solidFill>
                <a:latin typeface="Consolas" panose="020B0609020204030204" pitchFamily="49" charset="0"/>
              </a:rPr>
              <a:t>(function (</a:t>
            </a:r>
            <a:r>
              <a:rPr lang="en-US" altLang="en-US" sz="2000" dirty="0" err="1">
                <a:solidFill>
                  <a:srgbClr val="333333"/>
                </a:solidFill>
                <a:latin typeface="Consolas" panose="020B0609020204030204" pitchFamily="49" charset="0"/>
              </a:rPr>
              <a:t>req</a:t>
            </a:r>
            <a:r>
              <a:rPr lang="en-US" altLang="en-US" sz="2000" dirty="0">
                <a:solidFill>
                  <a:srgbClr val="333333"/>
                </a:solidFill>
                <a:latin typeface="Consolas" panose="020B0609020204030204" pitchFamily="49" charset="0"/>
              </a:rPr>
              <a:t>, res, next) { </a:t>
            </a:r>
          </a:p>
          <a:p>
            <a:pPr marL="0" indent="0">
              <a:buFont typeface="Arial" panose="020B0604020202020204" pitchFamily="34" charset="0"/>
              <a:buNone/>
              <a:defRPr/>
            </a:pPr>
            <a:r>
              <a:rPr lang="en-US" altLang="en-US" sz="2000" dirty="0">
                <a:solidFill>
                  <a:srgbClr val="333333"/>
                </a:solidFill>
                <a:latin typeface="Consolas" panose="020B0609020204030204" pitchFamily="49" charset="0"/>
              </a:rPr>
              <a:t>		console.log('Time: %d', </a:t>
            </a:r>
            <a:r>
              <a:rPr lang="en-US" altLang="en-US" sz="2000" dirty="0" err="1">
                <a:solidFill>
                  <a:srgbClr val="333333"/>
                </a:solidFill>
                <a:latin typeface="Consolas" panose="020B0609020204030204" pitchFamily="49" charset="0"/>
              </a:rPr>
              <a:t>Date.now</a:t>
            </a:r>
            <a:r>
              <a:rPr lang="en-US" altLang="en-US" sz="2000" dirty="0">
                <a:solidFill>
                  <a:srgbClr val="333333"/>
                </a:solidFill>
                <a:latin typeface="Consolas" panose="020B0609020204030204" pitchFamily="49" charset="0"/>
              </a:rPr>
              <a:t>()); </a:t>
            </a:r>
          </a:p>
          <a:p>
            <a:pPr marL="0" indent="0">
              <a:buFont typeface="Arial" panose="020B0604020202020204" pitchFamily="34" charset="0"/>
              <a:buNone/>
              <a:defRPr/>
            </a:pPr>
            <a:r>
              <a:rPr lang="en-US" altLang="en-US" sz="2000" dirty="0">
                <a:solidFill>
                  <a:srgbClr val="333333"/>
                </a:solidFill>
                <a:latin typeface="Consolas" panose="020B0609020204030204" pitchFamily="49" charset="0"/>
              </a:rPr>
              <a:t>		next(); </a:t>
            </a:r>
          </a:p>
          <a:p>
            <a:pPr marL="0" indent="0">
              <a:buFont typeface="Arial" panose="020B0604020202020204" pitchFamily="34" charset="0"/>
              <a:buNone/>
              <a:defRPr/>
            </a:pPr>
            <a:r>
              <a:rPr lang="en-US" altLang="en-US" sz="2000" dirty="0">
                <a:solidFill>
                  <a:srgbClr val="333333"/>
                </a:solidFill>
                <a:latin typeface="Consolas" panose="020B0609020204030204" pitchFamily="49" charset="0"/>
              </a:rPr>
              <a:t>	}); </a:t>
            </a:r>
            <a:endParaRPr lang="en-US" altLang="en-US" sz="2000" dirty="0">
              <a:latin typeface="Consolas" panose="020B0609020204030204" pitchFamily="49" charset="0"/>
            </a:endParaRPr>
          </a:p>
          <a:p>
            <a:pPr>
              <a:defRPr/>
            </a:pPr>
            <a:r>
              <a:rPr lang="en-US" dirty="0"/>
              <a:t>Middleware functions are executed sequentially, therefore, the order of middleware inclusion is important:</a:t>
            </a:r>
          </a:p>
          <a:p>
            <a:pPr marL="0" indent="0">
              <a:buNone/>
              <a:defRPr/>
            </a:pPr>
            <a:r>
              <a:rPr lang="en-US" altLang="en-US" dirty="0">
                <a:solidFill>
                  <a:srgbClr val="333333"/>
                </a:solidFill>
                <a:latin typeface="Arial Unicode MS" panose="020B0604020202020204" pitchFamily="34" charset="-128"/>
              </a:rPr>
              <a:t>	</a:t>
            </a:r>
            <a:r>
              <a:rPr lang="en-US" altLang="en-US" sz="2000" dirty="0">
                <a:solidFill>
                  <a:srgbClr val="333333"/>
                </a:solidFill>
                <a:latin typeface="Consolas" panose="020B0609020204030204" pitchFamily="49" charset="0"/>
              </a:rPr>
              <a:t>// this middleware will not allow the request to go beyond it 	</a:t>
            </a:r>
          </a:p>
          <a:p>
            <a:pPr marL="0" indent="0">
              <a:buNone/>
              <a:defRPr/>
            </a:pPr>
            <a:r>
              <a:rPr lang="en-US" altLang="en-US" sz="2000" dirty="0">
                <a:solidFill>
                  <a:srgbClr val="333333"/>
                </a:solidFill>
                <a:latin typeface="Consolas" panose="020B0609020204030204" pitchFamily="49" charset="0"/>
              </a:rPr>
              <a:t>	</a:t>
            </a:r>
            <a:r>
              <a:rPr lang="en-US" altLang="en-US" sz="2000" dirty="0" err="1">
                <a:solidFill>
                  <a:srgbClr val="333333"/>
                </a:solidFill>
                <a:latin typeface="Consolas" panose="020B0609020204030204" pitchFamily="49" charset="0"/>
              </a:rPr>
              <a:t>app.use</a:t>
            </a:r>
            <a:r>
              <a:rPr lang="en-US" altLang="en-US" sz="2000" dirty="0">
                <a:solidFill>
                  <a:srgbClr val="333333"/>
                </a:solidFill>
                <a:latin typeface="Consolas" panose="020B0609020204030204" pitchFamily="49" charset="0"/>
              </a:rPr>
              <a:t>(function(</a:t>
            </a:r>
            <a:r>
              <a:rPr lang="en-US" altLang="en-US" sz="2000" dirty="0" err="1">
                <a:solidFill>
                  <a:srgbClr val="333333"/>
                </a:solidFill>
                <a:latin typeface="Consolas" panose="020B0609020204030204" pitchFamily="49" charset="0"/>
              </a:rPr>
              <a:t>req</a:t>
            </a:r>
            <a:r>
              <a:rPr lang="en-US" altLang="en-US" sz="2000" dirty="0">
                <a:solidFill>
                  <a:srgbClr val="333333"/>
                </a:solidFill>
                <a:latin typeface="Consolas" panose="020B0609020204030204" pitchFamily="49" charset="0"/>
              </a:rPr>
              <a:t>, res, next) { </a:t>
            </a:r>
            <a:r>
              <a:rPr lang="en-US" altLang="en-US" sz="2000" dirty="0" err="1">
                <a:solidFill>
                  <a:srgbClr val="333333"/>
                </a:solidFill>
                <a:latin typeface="Consolas" panose="020B0609020204030204" pitchFamily="49" charset="0"/>
              </a:rPr>
              <a:t>res.send</a:t>
            </a:r>
            <a:r>
              <a:rPr lang="en-US" altLang="en-US" sz="2000" dirty="0">
                <a:solidFill>
                  <a:srgbClr val="333333"/>
                </a:solidFill>
                <a:latin typeface="Consolas" panose="020B0609020204030204" pitchFamily="49" charset="0"/>
              </a:rPr>
              <a:t>('Hello World'); }); </a:t>
            </a:r>
          </a:p>
          <a:p>
            <a:pPr marL="0" indent="0">
              <a:buNone/>
              <a:defRPr/>
            </a:pPr>
            <a:r>
              <a:rPr lang="en-US" altLang="en-US" sz="2000" dirty="0">
                <a:solidFill>
                  <a:srgbClr val="333333"/>
                </a:solidFill>
                <a:latin typeface="Consolas" panose="020B0609020204030204" pitchFamily="49" charset="0"/>
              </a:rPr>
              <a:t>	// requests will never reach this route </a:t>
            </a:r>
          </a:p>
          <a:p>
            <a:pPr marL="0" indent="0">
              <a:buNone/>
              <a:defRPr/>
            </a:pPr>
            <a:r>
              <a:rPr lang="en-US" altLang="en-US" sz="2000" dirty="0">
                <a:solidFill>
                  <a:srgbClr val="333333"/>
                </a:solidFill>
                <a:latin typeface="Consolas" panose="020B0609020204030204" pitchFamily="49" charset="0"/>
              </a:rPr>
              <a:t>	</a:t>
            </a:r>
            <a:r>
              <a:rPr lang="en-US" altLang="en-US" sz="2000" dirty="0" err="1">
                <a:solidFill>
                  <a:srgbClr val="333333"/>
                </a:solidFill>
                <a:latin typeface="Consolas" panose="020B0609020204030204" pitchFamily="49" charset="0"/>
              </a:rPr>
              <a:t>app.get</a:t>
            </a:r>
            <a:r>
              <a:rPr lang="en-US" altLang="en-US" sz="2000" dirty="0">
                <a:solidFill>
                  <a:srgbClr val="333333"/>
                </a:solidFill>
                <a:latin typeface="Consolas" panose="020B0609020204030204" pitchFamily="49" charset="0"/>
              </a:rPr>
              <a:t>('/', function (</a:t>
            </a:r>
            <a:r>
              <a:rPr lang="en-US" altLang="en-US" sz="2000" dirty="0" err="1">
                <a:solidFill>
                  <a:srgbClr val="333333"/>
                </a:solidFill>
                <a:latin typeface="Consolas" panose="020B0609020204030204" pitchFamily="49" charset="0"/>
              </a:rPr>
              <a:t>req</a:t>
            </a:r>
            <a:r>
              <a:rPr lang="en-US" altLang="en-US" sz="2000" dirty="0">
                <a:solidFill>
                  <a:srgbClr val="333333"/>
                </a:solidFill>
                <a:latin typeface="Consolas" panose="020B0609020204030204" pitchFamily="49" charset="0"/>
              </a:rPr>
              <a:t>, res) { </a:t>
            </a:r>
            <a:r>
              <a:rPr lang="en-US" altLang="en-US" sz="2000" dirty="0" err="1">
                <a:solidFill>
                  <a:srgbClr val="333333"/>
                </a:solidFill>
                <a:latin typeface="Consolas" panose="020B0609020204030204" pitchFamily="49" charset="0"/>
              </a:rPr>
              <a:t>res.send</a:t>
            </a:r>
            <a:r>
              <a:rPr lang="en-US" altLang="en-US" sz="2000" dirty="0">
                <a:solidFill>
                  <a:srgbClr val="333333"/>
                </a:solidFill>
                <a:latin typeface="Consolas" panose="020B0609020204030204" pitchFamily="49" charset="0"/>
              </a:rPr>
              <a:t>('Welcome'); }); </a:t>
            </a:r>
          </a:p>
          <a:p>
            <a:pPr marL="0" indent="0">
              <a:buFont typeface="Arial" panose="020B0604020202020204" pitchFamily="34" charset="0"/>
              <a:buNone/>
              <a:defRPr/>
            </a:pPr>
            <a:endParaRPr lang="en-US" dirty="0"/>
          </a:p>
          <a:p>
            <a:endParaRPr lang="en-US" dirty="0"/>
          </a:p>
        </p:txBody>
      </p:sp>
    </p:spTree>
    <p:extLst>
      <p:ext uri="{BB962C8B-B14F-4D97-AF65-F5344CB8AC3E}">
        <p14:creationId xmlns:p14="http://schemas.microsoft.com/office/powerpoint/2010/main" val="148021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Using Middleware</a:t>
            </a:r>
            <a:endParaRPr lang="en-US" dirty="0"/>
          </a:p>
        </p:txBody>
      </p:sp>
      <p:sp>
        <p:nvSpPr>
          <p:cNvPr id="3" name="Content Placeholder 2"/>
          <p:cNvSpPr>
            <a:spLocks noGrp="1"/>
          </p:cNvSpPr>
          <p:nvPr>
            <p:ph idx="1"/>
          </p:nvPr>
        </p:nvSpPr>
        <p:spPr/>
        <p:txBody>
          <a:bodyPr/>
          <a:lstStyle/>
          <a:p>
            <a:r>
              <a:rPr lang="en-US" dirty="0"/>
              <a:t>An Express application can use the following types of middleware:</a:t>
            </a:r>
          </a:p>
          <a:p>
            <a:pPr lvl="1"/>
            <a:r>
              <a:rPr lang="en-US" dirty="0"/>
              <a:t>Application-level middleware</a:t>
            </a:r>
          </a:p>
          <a:p>
            <a:pPr lvl="1"/>
            <a:r>
              <a:rPr lang="en-US" dirty="0"/>
              <a:t>Router-level middleware</a:t>
            </a:r>
          </a:p>
          <a:p>
            <a:pPr lvl="1"/>
            <a:r>
              <a:rPr lang="en-US" dirty="0"/>
              <a:t>Error-handling middleware</a:t>
            </a:r>
          </a:p>
          <a:p>
            <a:pPr lvl="1"/>
            <a:r>
              <a:rPr lang="en-US" dirty="0"/>
              <a:t>Built-in middleware</a:t>
            </a:r>
          </a:p>
          <a:p>
            <a:pPr lvl="1"/>
            <a:r>
              <a:rPr lang="en-US" dirty="0"/>
              <a:t>Third-party middleware</a:t>
            </a:r>
          </a:p>
          <a:p>
            <a:endParaRPr lang="en-US" dirty="0"/>
          </a:p>
          <a:p>
            <a:endParaRPr lang="en-US" dirty="0"/>
          </a:p>
        </p:txBody>
      </p:sp>
    </p:spTree>
    <p:extLst>
      <p:ext uri="{BB962C8B-B14F-4D97-AF65-F5344CB8AC3E}">
        <p14:creationId xmlns:p14="http://schemas.microsoft.com/office/powerpoint/2010/main" val="305995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Application-level Middleware</a:t>
            </a:r>
            <a:endParaRPr lang="en-US" dirty="0"/>
          </a:p>
        </p:txBody>
      </p:sp>
      <p:sp>
        <p:nvSpPr>
          <p:cNvPr id="3" name="Content Placeholder 2"/>
          <p:cNvSpPr>
            <a:spLocks noGrp="1"/>
          </p:cNvSpPr>
          <p:nvPr>
            <p:ph idx="1"/>
          </p:nvPr>
        </p:nvSpPr>
        <p:spPr/>
        <p:txBody>
          <a:bodyPr/>
          <a:lstStyle/>
          <a:p>
            <a:r>
              <a:rPr lang="en-US" altLang="en-US" dirty="0"/>
              <a:t>Bind application-level middleware to an instance of the app object by using the app.use() and </a:t>
            </a:r>
            <a:r>
              <a:rPr lang="en-US" altLang="en-US" dirty="0" err="1"/>
              <a:t>app.METHOD</a:t>
            </a:r>
            <a:r>
              <a:rPr lang="en-US" altLang="en-US" dirty="0"/>
              <a:t>() functions, where METHOD is the HTTP method of the request that the middleware function handles (such as GET, PUT, or POST) in lowercase.</a:t>
            </a:r>
          </a:p>
          <a:p>
            <a:r>
              <a:rPr lang="en-US" altLang="en-US" dirty="0"/>
              <a:t>Below example shows a middleware function mounted on the /user/:id path. The function is executed for any type of HTTP request on the /user/:id path.</a:t>
            </a:r>
          </a:p>
          <a:p>
            <a:pPr>
              <a:buFont typeface="Arial" panose="020B0604020202020204" pitchFamily="34" charset="0"/>
              <a:buNone/>
            </a:pPr>
            <a:r>
              <a:rPr lang="en-US" altLang="en-US" dirty="0"/>
              <a:t>		</a:t>
            </a:r>
            <a:r>
              <a:rPr lang="en-US" altLang="en-US" sz="2000" dirty="0">
                <a:latin typeface="Consolas" panose="020B0609020204030204" pitchFamily="49" charset="0"/>
              </a:rPr>
              <a:t>app.use('/user/:id',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p>
          <a:p>
            <a:pPr>
              <a:buFont typeface="Arial" panose="020B0604020202020204" pitchFamily="34" charset="0"/>
              <a:buNone/>
            </a:pPr>
            <a:r>
              <a:rPr lang="en-US" altLang="en-US" sz="2000" dirty="0">
                <a:latin typeface="Consolas" panose="020B0609020204030204" pitchFamily="49" charset="0"/>
              </a:rPr>
              <a:t>			console.log('Request Type:', </a:t>
            </a:r>
            <a:r>
              <a:rPr lang="en-US" altLang="en-US" sz="2000" dirty="0" err="1">
                <a:latin typeface="Consolas" panose="020B0609020204030204" pitchFamily="49" charset="0"/>
              </a:rPr>
              <a:t>req.method</a:t>
            </a:r>
            <a:r>
              <a:rPr lang="en-US" altLang="en-US" sz="2000" dirty="0">
                <a:latin typeface="Consolas" panose="020B0609020204030204" pitchFamily="49" charset="0"/>
              </a:rPr>
              <a:t>); </a:t>
            </a:r>
          </a:p>
          <a:p>
            <a:pPr>
              <a:buFont typeface="Arial" panose="020B0604020202020204" pitchFamily="34" charset="0"/>
              <a:buNone/>
            </a:pPr>
            <a:r>
              <a:rPr lang="en-US" altLang="en-US" sz="2000" dirty="0">
                <a:latin typeface="Consolas" panose="020B0609020204030204" pitchFamily="49" charset="0"/>
              </a:rPr>
              <a:t>			next(); </a:t>
            </a:r>
          </a:p>
          <a:p>
            <a:pPr>
              <a:buFont typeface="Arial" panose="020B0604020202020204" pitchFamily="34" charset="0"/>
              <a:buNone/>
            </a:pPr>
            <a:r>
              <a:rPr lang="en-US" altLang="en-US" sz="2000" dirty="0">
                <a:latin typeface="Consolas" panose="020B0609020204030204" pitchFamily="49" charset="0"/>
              </a:rPr>
              <a:t>		});</a:t>
            </a:r>
          </a:p>
          <a:p>
            <a:r>
              <a:rPr lang="en-US" altLang="en-US" dirty="0"/>
              <a:t>Below example shows a route and its handler function (middleware system). The function handles GET requests to the /user/:id path.</a:t>
            </a:r>
          </a:p>
          <a:p>
            <a:pPr>
              <a:buFont typeface="Arial" panose="020B0604020202020204" pitchFamily="34" charset="0"/>
              <a:buNone/>
            </a:pPr>
            <a:r>
              <a:rPr lang="en-US" altLang="en-US" dirty="0"/>
              <a:t>		</a:t>
            </a:r>
            <a:r>
              <a:rPr lang="en-US" altLang="en-US" sz="2000" dirty="0" err="1">
                <a:latin typeface="Consolas" panose="020B0609020204030204" pitchFamily="49" charset="0"/>
              </a:rPr>
              <a:t>app.get</a:t>
            </a:r>
            <a:r>
              <a:rPr lang="en-US" altLang="en-US" sz="2000" dirty="0">
                <a:latin typeface="Consolas" panose="020B0609020204030204" pitchFamily="49" charset="0"/>
              </a:rPr>
              <a:t>('/user/:id',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r>
              <a:rPr lang="en-US" altLang="en-US" sz="2000" dirty="0" err="1">
                <a:latin typeface="Consolas" panose="020B0609020204030204" pitchFamily="49" charset="0"/>
              </a:rPr>
              <a:t>res.send</a:t>
            </a:r>
            <a:r>
              <a:rPr lang="en-US" altLang="en-US" sz="2000" dirty="0">
                <a:latin typeface="Consolas" panose="020B0609020204030204" pitchFamily="49" charset="0"/>
              </a:rPr>
              <a:t>('USER'); });</a:t>
            </a:r>
          </a:p>
          <a:p>
            <a:endParaRPr lang="en-US" dirty="0"/>
          </a:p>
        </p:txBody>
      </p:sp>
    </p:spTree>
    <p:extLst>
      <p:ext uri="{BB962C8B-B14F-4D97-AF65-F5344CB8AC3E}">
        <p14:creationId xmlns:p14="http://schemas.microsoft.com/office/powerpoint/2010/main" val="412534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Application-level Middleware (Cont.)</a:t>
            </a:r>
            <a:endParaRPr lang="en-US" dirty="0">
              <a:solidFill>
                <a:srgbClr val="FF0000"/>
              </a:solidFill>
            </a:endParaRPr>
          </a:p>
        </p:txBody>
      </p:sp>
      <p:sp>
        <p:nvSpPr>
          <p:cNvPr id="3" name="Content Placeholder 2"/>
          <p:cNvSpPr>
            <a:spLocks noGrp="1"/>
          </p:cNvSpPr>
          <p:nvPr>
            <p:ph idx="1"/>
          </p:nvPr>
        </p:nvSpPr>
        <p:spPr/>
        <p:txBody>
          <a:bodyPr/>
          <a:lstStyle/>
          <a:p>
            <a:r>
              <a:rPr lang="en-US" altLang="en-US" dirty="0"/>
              <a:t>Here is an example of loading a series of middleware functions at a mount point, with a mount path. It illustrates a middleware sub-stack that prints request info for any type of HTTP request to the /user/:id path.</a:t>
            </a:r>
          </a:p>
          <a:p>
            <a:pPr>
              <a:buFont typeface="Arial" panose="020B0604020202020204" pitchFamily="34" charset="0"/>
              <a:buNone/>
            </a:pPr>
            <a:r>
              <a:rPr lang="en-US" altLang="en-US" dirty="0"/>
              <a:t>		</a:t>
            </a:r>
            <a:r>
              <a:rPr lang="en-US" altLang="en-US" sz="2000" dirty="0">
                <a:latin typeface="Consolas" panose="020B0609020204030204" pitchFamily="49" charset="0"/>
              </a:rPr>
              <a:t>app.use('/user/:id', function(</a:t>
            </a:r>
            <a:r>
              <a:rPr lang="en-US" altLang="en-US" sz="2000" dirty="0" err="1">
                <a:latin typeface="Consolas" panose="020B0609020204030204" pitchFamily="49" charset="0"/>
              </a:rPr>
              <a:t>req</a:t>
            </a:r>
            <a:r>
              <a:rPr lang="en-US" altLang="en-US" sz="2000" dirty="0">
                <a:latin typeface="Consolas" panose="020B0609020204030204" pitchFamily="49" charset="0"/>
              </a:rPr>
              <a:t>, res, next) {</a:t>
            </a:r>
          </a:p>
          <a:p>
            <a:pPr>
              <a:buFont typeface="Arial" panose="020B0604020202020204" pitchFamily="34" charset="0"/>
              <a:buNone/>
            </a:pPr>
            <a:r>
              <a:rPr lang="en-US" altLang="en-US" sz="2000" dirty="0">
                <a:latin typeface="Consolas" panose="020B0609020204030204" pitchFamily="49" charset="0"/>
              </a:rPr>
              <a:t>			console.log('Request URL:', </a:t>
            </a:r>
            <a:r>
              <a:rPr lang="en-US" altLang="en-US" sz="2000" dirty="0" err="1">
                <a:latin typeface="Consolas" panose="020B0609020204030204" pitchFamily="49" charset="0"/>
              </a:rPr>
              <a:t>req.originalUrl</a:t>
            </a:r>
            <a:r>
              <a:rPr lang="en-US" altLang="en-US" sz="2000" dirty="0">
                <a:latin typeface="Consolas" panose="020B0609020204030204" pitchFamily="49" charset="0"/>
              </a:rPr>
              <a:t>);</a:t>
            </a:r>
          </a:p>
          <a:p>
            <a:pPr>
              <a:buFont typeface="Arial" panose="020B0604020202020204" pitchFamily="34" charset="0"/>
              <a:buNone/>
            </a:pPr>
            <a:r>
              <a:rPr lang="en-US" altLang="en-US" sz="2000" dirty="0">
                <a:latin typeface="Consolas" panose="020B0609020204030204" pitchFamily="49" charset="0"/>
              </a:rPr>
              <a:t>			next(); </a:t>
            </a:r>
          </a:p>
          <a:p>
            <a:pPr>
              <a:buFont typeface="Arial" panose="020B0604020202020204" pitchFamily="34" charset="0"/>
              <a:buNone/>
            </a:pPr>
            <a:r>
              <a:rPr lang="en-US" altLang="en-US" sz="2000" dirty="0">
                <a:latin typeface="Consolas" panose="020B0609020204030204" pitchFamily="49" charset="0"/>
              </a:rPr>
              <a:t>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a:t>
            </a:r>
          </a:p>
          <a:p>
            <a:pPr>
              <a:buFont typeface="Arial" panose="020B0604020202020204" pitchFamily="34" charset="0"/>
              <a:buNone/>
            </a:pPr>
            <a:r>
              <a:rPr lang="en-US" altLang="en-US" sz="2000" dirty="0">
                <a:latin typeface="Consolas" panose="020B0609020204030204" pitchFamily="49" charset="0"/>
              </a:rPr>
              <a:t>			console.log('Request Type:', </a:t>
            </a:r>
            <a:r>
              <a:rPr lang="en-US" altLang="en-US" sz="2000" dirty="0" err="1">
                <a:latin typeface="Consolas" panose="020B0609020204030204" pitchFamily="49" charset="0"/>
              </a:rPr>
              <a:t>req.method</a:t>
            </a:r>
            <a:r>
              <a:rPr lang="en-US" altLang="en-US" sz="2000" dirty="0">
                <a:latin typeface="Consolas" panose="020B0609020204030204" pitchFamily="49" charset="0"/>
              </a:rPr>
              <a:t>);</a:t>
            </a:r>
          </a:p>
          <a:p>
            <a:pPr>
              <a:buFont typeface="Arial" panose="020B0604020202020204" pitchFamily="34" charset="0"/>
              <a:buNone/>
            </a:pPr>
            <a:r>
              <a:rPr lang="en-US" altLang="en-US" sz="2000" dirty="0">
                <a:latin typeface="Consolas" panose="020B0609020204030204" pitchFamily="49" charset="0"/>
              </a:rPr>
              <a:t>			next(); </a:t>
            </a:r>
          </a:p>
          <a:p>
            <a:pPr>
              <a:buFont typeface="Arial" panose="020B0604020202020204" pitchFamily="34" charset="0"/>
              <a:buNone/>
            </a:pPr>
            <a:r>
              <a:rPr lang="en-US" altLang="en-US" sz="2000" dirty="0">
                <a:latin typeface="Consolas" panose="020B0609020204030204" pitchFamily="49" charset="0"/>
              </a:rPr>
              <a:t>		});</a:t>
            </a:r>
          </a:p>
          <a:p>
            <a:endParaRPr lang="en-US" altLang="en-US" dirty="0"/>
          </a:p>
          <a:p>
            <a:endParaRPr lang="en-US" dirty="0"/>
          </a:p>
        </p:txBody>
      </p:sp>
    </p:spTree>
    <p:extLst>
      <p:ext uri="{BB962C8B-B14F-4D97-AF65-F5344CB8AC3E}">
        <p14:creationId xmlns:p14="http://schemas.microsoft.com/office/powerpoint/2010/main" val="247406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Application-level Middleware (Cont.)</a:t>
            </a:r>
            <a:endParaRPr lang="en-US" dirty="0"/>
          </a:p>
        </p:txBody>
      </p:sp>
      <p:sp>
        <p:nvSpPr>
          <p:cNvPr id="3" name="Content Placeholder 2"/>
          <p:cNvSpPr>
            <a:spLocks noGrp="1"/>
          </p:cNvSpPr>
          <p:nvPr>
            <p:ph idx="1"/>
          </p:nvPr>
        </p:nvSpPr>
        <p:spPr/>
        <p:txBody>
          <a:bodyPr/>
          <a:lstStyle/>
          <a:p>
            <a:r>
              <a:rPr lang="en-US" altLang="en-US" dirty="0"/>
              <a:t>Route handlers enable you to define multiple routes for a path. The example below defines two routes for GET requests to the /user/:id path. </a:t>
            </a:r>
          </a:p>
          <a:p>
            <a:r>
              <a:rPr lang="en-US" altLang="en-US" dirty="0"/>
              <a:t>The second route will not cause any problems, but it will </a:t>
            </a:r>
            <a:r>
              <a:rPr lang="en-US" altLang="en-US" b="1" dirty="0"/>
              <a:t>never get called </a:t>
            </a:r>
            <a:r>
              <a:rPr lang="en-US" altLang="en-US" dirty="0"/>
              <a:t>because the first route ends the request-response cycle.</a:t>
            </a:r>
          </a:p>
          <a:p>
            <a:r>
              <a:rPr lang="en-US" altLang="en-US" dirty="0"/>
              <a:t>This example shows a middleware sub-stack that handles GET requests to the /user/:id path.</a:t>
            </a:r>
          </a:p>
          <a:p>
            <a:pPr>
              <a:buFont typeface="Arial" panose="020B0604020202020204" pitchFamily="34" charset="0"/>
              <a:buNone/>
            </a:pPr>
            <a:r>
              <a:rPr lang="en-US" altLang="en-US" dirty="0"/>
              <a:t>		</a:t>
            </a:r>
            <a:r>
              <a:rPr lang="en-US" altLang="en-US" sz="2000" dirty="0" err="1">
                <a:latin typeface="Consolas" panose="020B0609020204030204" pitchFamily="49" charset="0"/>
              </a:rPr>
              <a:t>app.get</a:t>
            </a:r>
            <a:r>
              <a:rPr lang="en-US" altLang="en-US" sz="2000" dirty="0">
                <a:latin typeface="Consolas" panose="020B0609020204030204" pitchFamily="49" charset="0"/>
              </a:rPr>
              <a:t>('/user/:id',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p>
          <a:p>
            <a:pPr>
              <a:buFont typeface="Arial" panose="020B0604020202020204" pitchFamily="34" charset="0"/>
              <a:buNone/>
            </a:pPr>
            <a:r>
              <a:rPr lang="en-US" altLang="en-US" sz="2000" dirty="0">
                <a:latin typeface="Consolas" panose="020B0609020204030204" pitchFamily="49" charset="0"/>
              </a:rPr>
              <a:t>			console.log('ID:', req.params.id); next(); </a:t>
            </a:r>
          </a:p>
          <a:p>
            <a:pPr>
              <a:buFont typeface="Arial" panose="020B0604020202020204" pitchFamily="34" charset="0"/>
              <a:buNone/>
            </a:pPr>
            <a:r>
              <a:rPr lang="en-US" altLang="en-US" sz="2000" dirty="0">
                <a:latin typeface="Consolas" panose="020B0609020204030204" pitchFamily="49" charset="0"/>
              </a:rPr>
              <a:t>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r>
              <a:rPr lang="en-US" altLang="en-US" sz="2000" dirty="0" err="1">
                <a:latin typeface="Consolas" panose="020B0609020204030204" pitchFamily="49" charset="0"/>
              </a:rPr>
              <a:t>res.send</a:t>
            </a:r>
            <a:r>
              <a:rPr lang="en-US" altLang="en-US" sz="2000" dirty="0">
                <a:latin typeface="Consolas" panose="020B0609020204030204" pitchFamily="49" charset="0"/>
              </a:rPr>
              <a:t>('User Info'); }); </a:t>
            </a:r>
          </a:p>
          <a:p>
            <a:pPr>
              <a:buFont typeface="Arial" panose="020B0604020202020204" pitchFamily="34" charset="0"/>
              <a:buNone/>
            </a:pPr>
            <a:r>
              <a:rPr lang="en-US" altLang="en-US" sz="2000" dirty="0">
                <a:latin typeface="Consolas" panose="020B0609020204030204" pitchFamily="49" charset="0"/>
              </a:rPr>
              <a:t>		// handler for the /user/:id path, which prints the user ID </a:t>
            </a:r>
          </a:p>
          <a:p>
            <a:pPr>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app.get</a:t>
            </a:r>
            <a:r>
              <a:rPr lang="en-US" altLang="en-US" sz="2000" dirty="0">
                <a:latin typeface="Consolas" panose="020B0609020204030204" pitchFamily="49" charset="0"/>
              </a:rPr>
              <a:t>('/user/:id',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r>
              <a:rPr lang="en-US" altLang="en-US" sz="2000" dirty="0" err="1">
                <a:latin typeface="Consolas" panose="020B0609020204030204" pitchFamily="49" charset="0"/>
              </a:rPr>
              <a:t>res.end</a:t>
            </a:r>
            <a:r>
              <a:rPr lang="en-US" altLang="en-US" sz="2000" dirty="0">
                <a:latin typeface="Consolas" panose="020B0609020204030204" pitchFamily="49" charset="0"/>
              </a:rPr>
              <a:t>(req.params.id); });</a:t>
            </a:r>
          </a:p>
          <a:p>
            <a:endParaRPr lang="en-US" dirty="0"/>
          </a:p>
        </p:txBody>
      </p:sp>
    </p:spTree>
    <p:extLst>
      <p:ext uri="{BB962C8B-B14F-4D97-AF65-F5344CB8AC3E}">
        <p14:creationId xmlns:p14="http://schemas.microsoft.com/office/powerpoint/2010/main" val="57157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Application-level Middleware (Cont.)</a:t>
            </a:r>
            <a:endParaRPr lang="en-US" dirty="0"/>
          </a:p>
        </p:txBody>
      </p:sp>
      <p:sp>
        <p:nvSpPr>
          <p:cNvPr id="3" name="Content Placeholder 2"/>
          <p:cNvSpPr>
            <a:spLocks noGrp="1"/>
          </p:cNvSpPr>
          <p:nvPr>
            <p:ph idx="1"/>
          </p:nvPr>
        </p:nvSpPr>
        <p:spPr/>
        <p:txBody>
          <a:bodyPr/>
          <a:lstStyle/>
          <a:p>
            <a:r>
              <a:rPr lang="en-US" altLang="en-US" dirty="0"/>
              <a:t>To skip the rest of the middleware functions from a router middleware stack, call next('route') to pass control to the next route. </a:t>
            </a:r>
          </a:p>
          <a:p>
            <a:r>
              <a:rPr lang="en-US" altLang="en-US" b="1" dirty="0"/>
              <a:t>NOTE</a:t>
            </a:r>
            <a:r>
              <a:rPr lang="en-US" altLang="en-US" dirty="0"/>
              <a:t>: next('route') will work only in middleware functions that were loaded by using the </a:t>
            </a:r>
            <a:r>
              <a:rPr lang="en-US" altLang="en-US" dirty="0" err="1"/>
              <a:t>app.METHOD</a:t>
            </a:r>
            <a:r>
              <a:rPr lang="en-US" altLang="en-US" dirty="0"/>
              <a:t>() or </a:t>
            </a:r>
            <a:r>
              <a:rPr lang="en-US" altLang="en-US" dirty="0" err="1"/>
              <a:t>router.METHOD</a:t>
            </a:r>
            <a:r>
              <a:rPr lang="en-US" altLang="en-US" dirty="0"/>
              <a:t>() functions.</a:t>
            </a:r>
          </a:p>
          <a:p>
            <a:r>
              <a:rPr lang="en-US" altLang="en-US" dirty="0"/>
              <a:t>This example shows a middleware sub-stack that handles GET requests to the /user/:id path.</a:t>
            </a:r>
          </a:p>
          <a:p>
            <a:pPr>
              <a:lnSpc>
                <a:spcPct val="100000"/>
              </a:lnSpc>
              <a:spcBef>
                <a:spcPts val="0"/>
              </a:spcBef>
              <a:buFont typeface="Arial" panose="020B0604020202020204" pitchFamily="34" charset="0"/>
              <a:buNone/>
            </a:pPr>
            <a:r>
              <a:rPr lang="en-US" altLang="en-US" dirty="0"/>
              <a:t>	</a:t>
            </a:r>
            <a:r>
              <a:rPr lang="en-US" altLang="en-US" sz="2000" dirty="0" err="1">
                <a:latin typeface="Consolas" panose="020B0609020204030204" pitchFamily="49" charset="0"/>
              </a:rPr>
              <a:t>app.get</a:t>
            </a:r>
            <a:r>
              <a:rPr lang="en-US" altLang="en-US" sz="2000" dirty="0">
                <a:latin typeface="Consolas" panose="020B0609020204030204" pitchFamily="49" charset="0"/>
              </a:rPr>
              <a:t>('/user/:id',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 if the user ID is 0, skip to the next route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if (req.params.id == 0) next('route');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 otherwise pass the control to the next middleware function in this stack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else next(); //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res.end</a:t>
            </a:r>
            <a:r>
              <a:rPr lang="en-US" altLang="en-US" sz="2000" dirty="0">
                <a:latin typeface="Consolas" panose="020B0609020204030204" pitchFamily="49" charset="0"/>
              </a:rPr>
              <a:t>('regular'); // render a regular page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 handler for the /user/:id path, which renders a special page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app.get</a:t>
            </a:r>
            <a:r>
              <a:rPr lang="en-US" altLang="en-US" sz="2000" dirty="0">
                <a:latin typeface="Consolas" panose="020B0609020204030204" pitchFamily="49" charset="0"/>
              </a:rPr>
              <a:t>('/user/:id', function (</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r>
              <a:rPr lang="en-US" altLang="en-US" sz="2000" dirty="0" err="1">
                <a:latin typeface="Consolas" panose="020B0609020204030204" pitchFamily="49" charset="0"/>
              </a:rPr>
              <a:t>res.end</a:t>
            </a:r>
            <a:r>
              <a:rPr lang="en-US" altLang="en-US" sz="2000" dirty="0">
                <a:latin typeface="Consolas" panose="020B0609020204030204" pitchFamily="49" charset="0"/>
              </a:rPr>
              <a:t>('special'); });</a:t>
            </a:r>
          </a:p>
          <a:p>
            <a:endParaRPr lang="en-US" dirty="0"/>
          </a:p>
        </p:txBody>
      </p:sp>
    </p:spTree>
    <p:extLst>
      <p:ext uri="{BB962C8B-B14F-4D97-AF65-F5344CB8AC3E}">
        <p14:creationId xmlns:p14="http://schemas.microsoft.com/office/powerpoint/2010/main" val="328148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Express Routers</a:t>
            </a:r>
            <a:endParaRPr lang="en-US" dirty="0"/>
          </a:p>
        </p:txBody>
      </p:sp>
      <p:sp>
        <p:nvSpPr>
          <p:cNvPr id="3" name="Content Placeholder 2"/>
          <p:cNvSpPr>
            <a:spLocks noGrp="1"/>
          </p:cNvSpPr>
          <p:nvPr>
            <p:ph idx="1"/>
          </p:nvPr>
        </p:nvSpPr>
        <p:spPr/>
        <p:txBody>
          <a:bodyPr/>
          <a:lstStyle/>
          <a:p>
            <a:r>
              <a:rPr lang="en-US" altLang="en-US" dirty="0"/>
              <a:t>A router object is an isolated instance of middleware and routes. You can think of it as a “mini-application,” capable only of performing middleware and routing functions. Every Express application has a built-in app router.</a:t>
            </a:r>
          </a:p>
          <a:p>
            <a:r>
              <a:rPr lang="en-US" altLang="en-US" dirty="0"/>
              <a:t>A router behaves like middleware itself, so you can use it as an argument to app.use() or as the argument to another router’s use() method.</a:t>
            </a:r>
          </a:p>
          <a:p>
            <a:r>
              <a:rPr lang="en-US" altLang="en-US" dirty="0"/>
              <a:t>The top-level express object has a Router() method that creates a new router object.</a:t>
            </a:r>
          </a:p>
          <a:p>
            <a:pPr>
              <a:buFont typeface="Arial" panose="020B0604020202020204" pitchFamily="34" charset="0"/>
              <a:buNone/>
            </a:pPr>
            <a:r>
              <a:rPr lang="en-US" altLang="en-US" dirty="0"/>
              <a:t>		</a:t>
            </a:r>
            <a:r>
              <a:rPr lang="en-US" altLang="en-US" dirty="0" err="1"/>
              <a:t>var</a:t>
            </a:r>
            <a:r>
              <a:rPr lang="en-US" altLang="en-US" dirty="0"/>
              <a:t> express = require('express'); </a:t>
            </a:r>
          </a:p>
          <a:p>
            <a:pPr>
              <a:buFont typeface="Arial" panose="020B0604020202020204" pitchFamily="34" charset="0"/>
              <a:buNone/>
            </a:pPr>
            <a:r>
              <a:rPr lang="en-US" altLang="en-US" dirty="0"/>
              <a:t>		</a:t>
            </a:r>
            <a:r>
              <a:rPr lang="en-US" altLang="en-US" dirty="0" err="1"/>
              <a:t>var</a:t>
            </a:r>
            <a:r>
              <a:rPr lang="en-US" altLang="en-US" dirty="0"/>
              <a:t> app = express(); </a:t>
            </a:r>
          </a:p>
          <a:p>
            <a:pPr>
              <a:buFont typeface="Arial" panose="020B0604020202020204" pitchFamily="34" charset="0"/>
              <a:buNone/>
            </a:pPr>
            <a:r>
              <a:rPr lang="en-US" altLang="en-US" dirty="0"/>
              <a:t>		</a:t>
            </a:r>
            <a:r>
              <a:rPr lang="en-US" altLang="en-US" dirty="0" err="1"/>
              <a:t>var</a:t>
            </a:r>
            <a:r>
              <a:rPr lang="en-US" altLang="en-US" dirty="0"/>
              <a:t> router = </a:t>
            </a:r>
            <a:r>
              <a:rPr lang="en-US" altLang="en-US" dirty="0" err="1"/>
              <a:t>express.Router</a:t>
            </a:r>
            <a:r>
              <a:rPr lang="en-US" altLang="en-US" dirty="0"/>
              <a:t>();</a:t>
            </a:r>
          </a:p>
          <a:p>
            <a:endParaRPr lang="en-US" dirty="0"/>
          </a:p>
        </p:txBody>
      </p:sp>
    </p:spTree>
    <p:extLst>
      <p:ext uri="{BB962C8B-B14F-4D97-AF65-F5344CB8AC3E}">
        <p14:creationId xmlns:p14="http://schemas.microsoft.com/office/powerpoint/2010/main" val="192228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Express Routers (Cont.)</a:t>
            </a:r>
            <a:endParaRPr lang="en-US" dirty="0"/>
          </a:p>
        </p:txBody>
      </p:sp>
      <p:sp>
        <p:nvSpPr>
          <p:cNvPr id="3" name="Content Placeholder 2"/>
          <p:cNvSpPr>
            <a:spLocks noGrp="1"/>
          </p:cNvSpPr>
          <p:nvPr>
            <p:ph idx="1"/>
          </p:nvPr>
        </p:nvSpPr>
        <p:spPr/>
        <p:txBody>
          <a:bodyPr/>
          <a:lstStyle/>
          <a:p>
            <a:r>
              <a:rPr lang="en-US" altLang="en-US" dirty="0"/>
              <a:t>Once you’ve created a router object, you can add middleware and HTTP method routes (such as get, put, post, and so on) to it just like an application. For example:</a:t>
            </a:r>
          </a:p>
          <a:p>
            <a:pPr>
              <a:buFont typeface="Arial" panose="020B0604020202020204" pitchFamily="34" charset="0"/>
              <a:buNone/>
            </a:pPr>
            <a:r>
              <a:rPr lang="en-US" altLang="en-US" dirty="0"/>
              <a:t>		</a:t>
            </a:r>
            <a:r>
              <a:rPr lang="en-US" altLang="en-US" sz="2000" dirty="0">
                <a:latin typeface="Consolas" panose="020B0609020204030204" pitchFamily="49" charset="0"/>
              </a:rPr>
              <a:t>// invoked for any requests passed to this router </a:t>
            </a:r>
          </a:p>
          <a:p>
            <a:pPr>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router.use</a:t>
            </a:r>
            <a:r>
              <a:rPr lang="en-US" altLang="en-US" sz="2000" dirty="0">
                <a:latin typeface="Consolas" panose="020B0609020204030204" pitchFamily="49" charset="0"/>
              </a:rPr>
              <a:t>(function(</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p>
          <a:p>
            <a:pPr>
              <a:buFont typeface="Arial" panose="020B0604020202020204" pitchFamily="34" charset="0"/>
              <a:buNone/>
            </a:pPr>
            <a:r>
              <a:rPr lang="en-US" altLang="en-US" sz="2000" dirty="0">
                <a:latin typeface="Consolas" panose="020B0609020204030204" pitchFamily="49" charset="0"/>
              </a:rPr>
              <a:t>			// .. some logic here .. like any other middleware </a:t>
            </a:r>
          </a:p>
          <a:p>
            <a:pPr>
              <a:buFont typeface="Arial" panose="020B0604020202020204" pitchFamily="34" charset="0"/>
              <a:buNone/>
            </a:pPr>
            <a:r>
              <a:rPr lang="en-US" altLang="en-US" sz="2000" dirty="0">
                <a:latin typeface="Consolas" panose="020B0609020204030204" pitchFamily="49" charset="0"/>
              </a:rPr>
              <a:t>			next(); }); </a:t>
            </a:r>
          </a:p>
          <a:p>
            <a:pPr>
              <a:buFont typeface="Arial" panose="020B0604020202020204" pitchFamily="34" charset="0"/>
              <a:buNone/>
            </a:pPr>
            <a:r>
              <a:rPr lang="en-US" altLang="en-US" sz="2000" dirty="0">
                <a:latin typeface="Consolas" panose="020B0609020204030204" pitchFamily="49" charset="0"/>
              </a:rPr>
              <a:t>		// will handle any request that ends in /events </a:t>
            </a:r>
          </a:p>
          <a:p>
            <a:pPr>
              <a:buFont typeface="Arial" panose="020B0604020202020204" pitchFamily="34" charset="0"/>
              <a:buNone/>
            </a:pPr>
            <a:r>
              <a:rPr lang="en-US" altLang="en-US" sz="2000" dirty="0">
                <a:latin typeface="Consolas" panose="020B0609020204030204" pitchFamily="49" charset="0"/>
              </a:rPr>
              <a:t>		// depends on where the router is "use()'d" </a:t>
            </a:r>
          </a:p>
          <a:p>
            <a:pPr>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router.get</a:t>
            </a:r>
            <a:r>
              <a:rPr lang="en-US" altLang="en-US" sz="2000" dirty="0">
                <a:latin typeface="Consolas" panose="020B0609020204030204" pitchFamily="49" charset="0"/>
              </a:rPr>
              <a:t>('/events', function(</a:t>
            </a:r>
            <a:r>
              <a:rPr lang="en-US" altLang="en-US" sz="2000" dirty="0" err="1">
                <a:latin typeface="Consolas" panose="020B0609020204030204" pitchFamily="49" charset="0"/>
              </a:rPr>
              <a:t>req</a:t>
            </a:r>
            <a:r>
              <a:rPr lang="en-US" altLang="en-US" sz="2000" dirty="0">
                <a:latin typeface="Consolas" panose="020B0609020204030204" pitchFamily="49" charset="0"/>
              </a:rPr>
              <a:t>, res, next) { </a:t>
            </a:r>
          </a:p>
          <a:p>
            <a:pPr>
              <a:buFont typeface="Arial" panose="020B0604020202020204" pitchFamily="34" charset="0"/>
              <a:buNone/>
            </a:pPr>
            <a:r>
              <a:rPr lang="en-US" altLang="en-US" sz="2000" dirty="0">
                <a:latin typeface="Consolas" panose="020B0609020204030204" pitchFamily="49" charset="0"/>
              </a:rPr>
              <a:t>			// .. });</a:t>
            </a:r>
          </a:p>
          <a:p>
            <a:r>
              <a:rPr lang="en-US" altLang="en-US" dirty="0"/>
              <a:t>You can then use a router for a particular root URL in this way separating your routes into files or even mini-apps.</a:t>
            </a:r>
          </a:p>
          <a:p>
            <a:pPr>
              <a:buFont typeface="Arial" panose="020B0604020202020204" pitchFamily="34" charset="0"/>
              <a:buNone/>
            </a:pPr>
            <a:r>
              <a:rPr lang="en-US" altLang="en-US" dirty="0"/>
              <a:t>		</a:t>
            </a:r>
            <a:r>
              <a:rPr lang="en-US" altLang="en-US" sz="2000" dirty="0">
                <a:latin typeface="Consolas" panose="020B0609020204030204" pitchFamily="49" charset="0"/>
              </a:rPr>
              <a:t>// only requests to /calendar/* will be sent to our "router" </a:t>
            </a:r>
          </a:p>
          <a:p>
            <a:pPr>
              <a:buFont typeface="Arial" panose="020B0604020202020204" pitchFamily="34" charset="0"/>
              <a:buNone/>
            </a:pPr>
            <a:r>
              <a:rPr lang="en-US" altLang="en-US" sz="2000" dirty="0">
                <a:latin typeface="Consolas" panose="020B0609020204030204" pitchFamily="49" charset="0"/>
              </a:rPr>
              <a:t>		app.use('/calendar', router);</a:t>
            </a:r>
          </a:p>
          <a:p>
            <a:endParaRPr lang="en-US" dirty="0"/>
          </a:p>
        </p:txBody>
      </p:sp>
    </p:spTree>
    <p:extLst>
      <p:ext uri="{BB962C8B-B14F-4D97-AF65-F5344CB8AC3E}">
        <p14:creationId xmlns:p14="http://schemas.microsoft.com/office/powerpoint/2010/main" val="286674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Router Methods</a:t>
            </a:r>
            <a:endParaRPr lang="en-US" dirty="0"/>
          </a:p>
        </p:txBody>
      </p:sp>
      <p:sp>
        <p:nvSpPr>
          <p:cNvPr id="3" name="Content Placeholder 2"/>
          <p:cNvSpPr>
            <a:spLocks noGrp="1"/>
          </p:cNvSpPr>
          <p:nvPr>
            <p:ph idx="1"/>
          </p:nvPr>
        </p:nvSpPr>
        <p:spPr/>
        <p:txBody>
          <a:bodyPr/>
          <a:lstStyle/>
          <a:p>
            <a:r>
              <a:rPr lang="en-US" altLang="en-US" dirty="0" err="1"/>
              <a:t>router.all</a:t>
            </a:r>
            <a:r>
              <a:rPr lang="en-US" altLang="en-US" dirty="0"/>
              <a:t>(path, [callback, …] callback)</a:t>
            </a:r>
          </a:p>
          <a:p>
            <a:r>
              <a:rPr lang="en-US" altLang="en-US" dirty="0"/>
              <a:t>This method is extremely useful for mapping “global” logic for specific path prefixes or arbitrary matches. For example, if you placed the following route at the top of all other route definitions, it would require that all routes from that point on would require authentication, and automatically load a user. Keep in mind that these callbacks do not have to act as end points; </a:t>
            </a:r>
            <a:r>
              <a:rPr lang="en-US" altLang="en-US" dirty="0" err="1"/>
              <a:t>loadUser</a:t>
            </a:r>
            <a:r>
              <a:rPr lang="en-US" altLang="en-US" dirty="0"/>
              <a:t> can perform a task, then call next() to continue matching subsequent routes.</a:t>
            </a:r>
          </a:p>
          <a:p>
            <a:pPr>
              <a:buFont typeface="Arial" panose="020B0604020202020204" pitchFamily="34" charset="0"/>
              <a:buNone/>
            </a:pPr>
            <a:r>
              <a:rPr lang="en-US" altLang="en-US" dirty="0"/>
              <a:t>		</a:t>
            </a:r>
            <a:r>
              <a:rPr lang="en-US" altLang="en-US" dirty="0" err="1"/>
              <a:t>router.all</a:t>
            </a:r>
            <a:r>
              <a:rPr lang="en-US" altLang="en-US" dirty="0"/>
              <a:t>('*', </a:t>
            </a:r>
            <a:r>
              <a:rPr lang="en-US" altLang="en-US" dirty="0" err="1"/>
              <a:t>requireAuthentication</a:t>
            </a:r>
            <a:r>
              <a:rPr lang="en-US" altLang="en-US" dirty="0"/>
              <a:t>, </a:t>
            </a:r>
            <a:r>
              <a:rPr lang="en-US" altLang="en-US" dirty="0" err="1"/>
              <a:t>loadUser</a:t>
            </a:r>
            <a:r>
              <a:rPr lang="en-US" altLang="en-US" dirty="0"/>
              <a:t>);</a:t>
            </a:r>
          </a:p>
          <a:p>
            <a:r>
              <a:rPr lang="en-US" altLang="en-US" dirty="0"/>
              <a:t>Another example of this is white-listed “global” functionality. Here the example is much like before, but it only restricts paths prefixed with “/</a:t>
            </a:r>
            <a:r>
              <a:rPr lang="en-US" altLang="en-US" dirty="0" err="1"/>
              <a:t>api</a:t>
            </a:r>
            <a:r>
              <a:rPr lang="en-US" altLang="en-US" dirty="0"/>
              <a:t>”:</a:t>
            </a:r>
          </a:p>
          <a:p>
            <a:pPr>
              <a:buFont typeface="Arial" panose="020B0604020202020204" pitchFamily="34" charset="0"/>
              <a:buNone/>
            </a:pPr>
            <a:r>
              <a:rPr lang="en-US" altLang="en-US" dirty="0"/>
              <a:t>		</a:t>
            </a:r>
            <a:r>
              <a:rPr lang="en-US" altLang="en-US" dirty="0" err="1"/>
              <a:t>router.all</a:t>
            </a:r>
            <a:r>
              <a:rPr lang="en-US" altLang="en-US" dirty="0"/>
              <a:t>('/</a:t>
            </a:r>
            <a:r>
              <a:rPr lang="en-US" altLang="en-US" dirty="0" err="1"/>
              <a:t>api</a:t>
            </a:r>
            <a:r>
              <a:rPr lang="en-US" altLang="en-US" dirty="0"/>
              <a:t>/*', </a:t>
            </a:r>
            <a:r>
              <a:rPr lang="en-US" altLang="en-US" dirty="0" err="1"/>
              <a:t>requireAuthentication</a:t>
            </a:r>
            <a:r>
              <a:rPr lang="en-US" altLang="en-US" dirty="0"/>
              <a:t>);</a:t>
            </a:r>
          </a:p>
          <a:p>
            <a:endParaRPr lang="en-US" dirty="0"/>
          </a:p>
        </p:txBody>
      </p:sp>
    </p:spTree>
    <p:extLst>
      <p:ext uri="{BB962C8B-B14F-4D97-AF65-F5344CB8AC3E}">
        <p14:creationId xmlns:p14="http://schemas.microsoft.com/office/powerpoint/2010/main" val="261473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BE09A-11B3-43B3-8C52-39C7EEEF5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C9647-0DAB-A198-669C-1FEDCCA91B1A}"/>
              </a:ext>
            </a:extLst>
          </p:cNvPr>
          <p:cNvSpPr>
            <a:spLocks noGrp="1"/>
          </p:cNvSpPr>
          <p:nvPr>
            <p:ph type="title"/>
          </p:nvPr>
        </p:nvSpPr>
        <p:spPr/>
        <p:txBody>
          <a:bodyPr/>
          <a:lstStyle/>
          <a:p>
            <a:r>
              <a:rPr lang="en-US" altLang="en-US" dirty="0"/>
              <a:t>Router Methods</a:t>
            </a:r>
            <a:endParaRPr lang="en-US" dirty="0"/>
          </a:p>
        </p:txBody>
      </p:sp>
      <p:sp>
        <p:nvSpPr>
          <p:cNvPr id="3" name="Content Placeholder 2">
            <a:extLst>
              <a:ext uri="{FF2B5EF4-FFF2-40B4-BE49-F238E27FC236}">
                <a16:creationId xmlns:a16="http://schemas.microsoft.com/office/drawing/2014/main" id="{DBED0BB4-147F-D84B-3CD3-E62F8F44BD01}"/>
              </a:ext>
            </a:extLst>
          </p:cNvPr>
          <p:cNvSpPr>
            <a:spLocks noGrp="1"/>
          </p:cNvSpPr>
          <p:nvPr>
            <p:ph idx="1"/>
          </p:nvPr>
        </p:nvSpPr>
        <p:spPr>
          <a:xfrm>
            <a:off x="7474591" y="863444"/>
            <a:ext cx="4644954" cy="5590565"/>
          </a:xfrm>
        </p:spPr>
        <p:txBody>
          <a:bodyPr/>
          <a:lstStyle/>
          <a:p>
            <a:r>
              <a:rPr lang="en-US" altLang="en-US" dirty="0"/>
              <a:t>For example, if you placed the following route at the top of all other route definitions, it would require that all routes from that point on would require authentication, and automatically load a user. Keep in mind that these callbacks do not have to act as end points; </a:t>
            </a:r>
            <a:r>
              <a:rPr lang="en-US" altLang="en-US" dirty="0" err="1"/>
              <a:t>loadUser</a:t>
            </a:r>
            <a:r>
              <a:rPr lang="en-US" altLang="en-US" dirty="0"/>
              <a:t> can perform a task, then call next() to continue matching subsequent routes.</a:t>
            </a:r>
          </a:p>
          <a:p>
            <a:pPr>
              <a:buFont typeface="Arial" panose="020B0604020202020204" pitchFamily="34" charset="0"/>
              <a:buNone/>
            </a:pPr>
            <a:r>
              <a:rPr lang="en-US" altLang="en-US" dirty="0"/>
              <a:t>	</a:t>
            </a:r>
          </a:p>
          <a:p>
            <a:pPr>
              <a:buFont typeface="Arial" panose="020B0604020202020204" pitchFamily="34" charset="0"/>
              <a:buNone/>
            </a:pPr>
            <a:r>
              <a:rPr lang="en-US" altLang="en-US" dirty="0" err="1"/>
              <a:t>router.all</a:t>
            </a:r>
            <a:r>
              <a:rPr lang="en-US" altLang="en-US" dirty="0"/>
              <a:t>('*', </a:t>
            </a:r>
            <a:r>
              <a:rPr lang="en-US" altLang="en-US" dirty="0" err="1"/>
              <a:t>requireAuthentication</a:t>
            </a:r>
            <a:r>
              <a:rPr lang="en-US" altLang="en-US" dirty="0"/>
              <a:t>, </a:t>
            </a:r>
            <a:r>
              <a:rPr lang="en-US" altLang="en-US" dirty="0" err="1"/>
              <a:t>loadUser</a:t>
            </a:r>
            <a:r>
              <a:rPr lang="en-US" altLang="en-US" dirty="0"/>
              <a:t>);</a:t>
            </a:r>
          </a:p>
        </p:txBody>
      </p:sp>
      <p:sp>
        <p:nvSpPr>
          <p:cNvPr id="5" name="TextBox 4">
            <a:extLst>
              <a:ext uri="{FF2B5EF4-FFF2-40B4-BE49-F238E27FC236}">
                <a16:creationId xmlns:a16="http://schemas.microsoft.com/office/drawing/2014/main" id="{B455DDF4-F7CE-EA22-F2D2-84F4CFDC81DF}"/>
              </a:ext>
            </a:extLst>
          </p:cNvPr>
          <p:cNvSpPr txBox="1"/>
          <p:nvPr/>
        </p:nvSpPr>
        <p:spPr>
          <a:xfrm>
            <a:off x="156345" y="811869"/>
            <a:ext cx="7653805" cy="5313378"/>
          </a:xfrm>
          <a:prstGeom prst="rect">
            <a:avLst/>
          </a:prstGeom>
          <a:noFill/>
        </p:spPr>
        <p:txBody>
          <a:bodyPr wrap="square">
            <a:spAutoFit/>
          </a:bodyPr>
          <a:lstStyle/>
          <a:p>
            <a:pPr>
              <a:lnSpc>
                <a:spcPts val="1425"/>
              </a:lnSpc>
              <a:buNone/>
            </a:pP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express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pPr>
              <a:lnSpc>
                <a:spcPts val="1425"/>
              </a:lnSpc>
              <a:buNone/>
            </a:pP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router</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express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Router</a:t>
            </a:r>
            <a:r>
              <a:rPr lang="en-IN" b="0" dirty="0">
                <a:solidFill>
                  <a:srgbClr val="000000"/>
                </a:solidFill>
                <a:effectLst/>
                <a:latin typeface="Consolas" panose="020B0609020204030204" pitchFamily="49" charset="0"/>
              </a:rPr>
              <a:t>();</a:t>
            </a:r>
          </a:p>
          <a:p>
            <a:pPr>
              <a:lnSpc>
                <a:spcPts val="1425"/>
              </a:lnSpc>
              <a:buNone/>
            </a:pP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app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express</a:t>
            </a:r>
            <a:r>
              <a:rPr lang="en-IN" b="0" dirty="0">
                <a:solidFill>
                  <a:srgbClr val="000000"/>
                </a:solidFill>
                <a:effectLst/>
                <a:latin typeface="Consolas" panose="020B0609020204030204" pitchFamily="49" charset="0"/>
              </a:rPr>
              <a:t>();</a:t>
            </a:r>
          </a:p>
          <a:p>
            <a:pPr>
              <a:lnSpc>
                <a:spcPts val="1425"/>
              </a:lnSpc>
              <a:buNone/>
            </a:pPr>
            <a:r>
              <a:rPr lang="en-IN" b="0" dirty="0" err="1">
                <a:solidFill>
                  <a:srgbClr val="0070C1"/>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use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router</a:t>
            </a:r>
            <a:r>
              <a:rPr lang="en-IN" b="0" dirty="0">
                <a:solidFill>
                  <a:srgbClr val="000000"/>
                </a:solidFill>
                <a:effectLst/>
                <a:latin typeface="Consolas" panose="020B0609020204030204" pitchFamily="49" charset="0"/>
              </a:rPr>
              <a:t>);</a:t>
            </a:r>
          </a:p>
          <a:p>
            <a:pPr>
              <a:lnSpc>
                <a:spcPts val="1425"/>
              </a:lnSpc>
              <a:buNone/>
            </a:pPr>
            <a:r>
              <a:rPr lang="en-IN" b="0" dirty="0" err="1">
                <a:solidFill>
                  <a:srgbClr val="0070C1"/>
                </a:solidFill>
                <a:effectLst/>
                <a:latin typeface="Consolas" panose="020B0609020204030204" pitchFamily="49" charset="0"/>
              </a:rPr>
              <a:t>app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3000</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=&gt;</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'server is started!’</a:t>
            </a:r>
            <a:r>
              <a:rPr lang="en-IN" b="0" dirty="0">
                <a:solidFill>
                  <a:srgbClr val="000000"/>
                </a:solidFill>
                <a:effectLst/>
                <a:latin typeface="Consolas" panose="020B0609020204030204" pitchFamily="49" charset="0"/>
              </a:rPr>
              <a:t>));</a:t>
            </a:r>
          </a:p>
          <a:p>
            <a:pPr>
              <a:lnSpc>
                <a:spcPts val="1425"/>
              </a:lnSpc>
              <a:buNone/>
            </a:pPr>
            <a:endParaRPr lang="en-IN" b="0" dirty="0">
              <a:solidFill>
                <a:srgbClr val="000000"/>
              </a:solidFill>
              <a:effectLst/>
              <a:latin typeface="Consolas" panose="020B0609020204030204" pitchFamily="49" charset="0"/>
            </a:endParaRPr>
          </a:p>
          <a:p>
            <a:pPr>
              <a:lnSpc>
                <a:spcPts val="1425"/>
              </a:lnSpc>
              <a:buNone/>
            </a:pPr>
            <a:r>
              <a:rPr lang="en-IN" b="0" dirty="0">
                <a:solidFill>
                  <a:srgbClr val="008000"/>
                </a:solidFill>
                <a:effectLst/>
                <a:latin typeface="Consolas" panose="020B0609020204030204" pitchFamily="49" charset="0"/>
              </a:rPr>
              <a:t>// Authentication Middleware</a:t>
            </a:r>
            <a:endParaRPr lang="en-IN" b="0" dirty="0">
              <a:solidFill>
                <a:srgbClr val="000000"/>
              </a:solidFill>
              <a:effectLst/>
              <a:latin typeface="Consolas" panose="020B0609020204030204" pitchFamily="49" charset="0"/>
            </a:endParaRPr>
          </a:p>
          <a:p>
            <a:pPr>
              <a:lnSpc>
                <a:spcPts val="1425"/>
              </a:lnSpc>
              <a:buNone/>
            </a:pP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requireAuthentication</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next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headers</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token</a:t>
            </a:r>
            <a:r>
              <a:rPr lang="en-IN" b="0" dirty="0">
                <a:solidFill>
                  <a:srgbClr val="000000"/>
                </a:solidFill>
                <a:effectLst/>
                <a:latin typeface="Consolas" panose="020B0609020204030204" pitchFamily="49" charset="0"/>
              </a:rPr>
              <a:t> === </a:t>
            </a:r>
            <a:r>
              <a:rPr lang="en-IN" b="0" dirty="0">
                <a:solidFill>
                  <a:srgbClr val="A31515"/>
                </a:solidFill>
                <a:effectLst/>
                <a:latin typeface="Consolas" panose="020B0609020204030204" pitchFamily="49" charset="0"/>
              </a:rPr>
              <a:t>"12345"</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user authenticated</a:t>
            </a:r>
            <a:endParaRPr lang="en-IN" b="0" dirty="0">
              <a:solidFill>
                <a:srgbClr val="000000"/>
              </a:solidFill>
              <a:effectLst/>
              <a:latin typeface="Consolas" panose="020B0609020204030204" pitchFamily="49" charset="0"/>
            </a:endParaRPr>
          </a:p>
          <a:p>
            <a:pPr>
              <a:lnSpc>
                <a:spcPts val="1425"/>
              </a:lnSpc>
              <a:buNone/>
            </a:pPr>
            <a:r>
              <a:rPr lang="en-IN" b="0" dirty="0">
                <a:solidFill>
                  <a:srgbClr val="000000"/>
                </a:solidFill>
                <a:effectLst/>
                <a:latin typeface="Consolas" panose="020B0609020204030204" pitchFamily="49" charset="0"/>
              </a:rPr>
              <a:t>  } </a:t>
            </a:r>
            <a:r>
              <a:rPr lang="en-IN" b="0" dirty="0">
                <a:solidFill>
                  <a:srgbClr val="AF00DB"/>
                </a:solidFill>
                <a:effectLst/>
                <a:latin typeface="Consolas" panose="020B0609020204030204" pitchFamily="49" charset="0"/>
              </a:rPr>
              <a:t>else</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status</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401</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"Authentication Required"</a:t>
            </a: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a:t>
            </a:r>
          </a:p>
          <a:p>
            <a:pPr>
              <a:lnSpc>
                <a:spcPts val="1425"/>
              </a:lnSpc>
              <a:buNone/>
            </a:pPr>
            <a:r>
              <a:rPr lang="en-IN" b="0" dirty="0">
                <a:solidFill>
                  <a:srgbClr val="008000"/>
                </a:solidFill>
                <a:effectLst/>
                <a:latin typeface="Consolas" panose="020B0609020204030204" pitchFamily="49" charset="0"/>
              </a:rPr>
              <a:t>// Load User Middleware</a:t>
            </a:r>
            <a:endParaRPr lang="en-IN" b="0" dirty="0">
              <a:solidFill>
                <a:srgbClr val="000000"/>
              </a:solidFill>
              <a:effectLst/>
              <a:latin typeface="Consolas" panose="020B0609020204030204" pitchFamily="49" charset="0"/>
            </a:endParaRPr>
          </a:p>
          <a:p>
            <a:pPr>
              <a:lnSpc>
                <a:spcPts val="1425"/>
              </a:lnSpc>
              <a:buNone/>
            </a:pP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loadUser</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next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user</a:t>
            </a:r>
            <a:r>
              <a:rPr lang="en-IN" b="0" dirty="0">
                <a:solidFill>
                  <a:srgbClr val="000000"/>
                </a:solidFill>
                <a:effectLst/>
                <a:latin typeface="Consolas" panose="020B0609020204030204" pitchFamily="49" charset="0"/>
              </a:rPr>
              <a:t> = { </a:t>
            </a:r>
            <a:r>
              <a:rPr lang="en-IN" b="0" dirty="0">
                <a:solidFill>
                  <a:srgbClr val="001080"/>
                </a:solidFill>
                <a:effectLst/>
                <a:latin typeface="Consolas" panose="020B0609020204030204" pitchFamily="49" charset="0"/>
              </a:rPr>
              <a:t>id:</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101</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"Admin"</a:t>
            </a:r>
            <a:r>
              <a:rPr lang="en-IN" b="0" dirty="0">
                <a:solidFill>
                  <a:srgbClr val="000000"/>
                </a:solidFill>
                <a:effectLst/>
                <a:latin typeface="Consolas" panose="020B0609020204030204" pitchFamily="49" charset="0"/>
              </a:rPr>
              <a:t> }; </a:t>
            </a:r>
            <a:r>
              <a:rPr lang="en-IN" b="0" dirty="0">
                <a:solidFill>
                  <a:srgbClr val="008000"/>
                </a:solidFill>
                <a:effectLst/>
                <a:latin typeface="Consolas" panose="020B0609020204030204" pitchFamily="49" charset="0"/>
              </a:rPr>
              <a:t>// simulate DB load</a:t>
            </a:r>
            <a:endParaRPr lang="en-IN" b="0" dirty="0">
              <a:solidFill>
                <a:srgbClr val="000000"/>
              </a:solidFill>
              <a:effectLst/>
              <a:latin typeface="Consolas" panose="020B0609020204030204" pitchFamily="49" charset="0"/>
            </a:endParaRPr>
          </a:p>
          <a:p>
            <a:pPr>
              <a:lnSpc>
                <a:spcPts val="1425"/>
              </a:lnSpc>
              <a:buNone/>
            </a:pP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next</a:t>
            </a: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a:p>
            <a:pPr>
              <a:lnSpc>
                <a:spcPts val="1425"/>
              </a:lnSpc>
              <a:buNone/>
            </a:pPr>
            <a:r>
              <a:rPr lang="en-IN" b="0" dirty="0" err="1">
                <a:solidFill>
                  <a:srgbClr val="0070C1"/>
                </a:solidFill>
                <a:effectLst/>
                <a:latin typeface="Consolas" panose="020B0609020204030204" pitchFamily="49" charset="0"/>
              </a:rPr>
              <a:t>router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all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'/*splat'</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requireAuthentication</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loadUser</a:t>
            </a:r>
            <a:r>
              <a:rPr lang="en-IN" b="0" dirty="0">
                <a:solidFill>
                  <a:srgbClr val="000000"/>
                </a:solidFill>
                <a:effectLst/>
                <a:latin typeface="Consolas" panose="020B0609020204030204" pitchFamily="49" charset="0"/>
              </a:rPr>
              <a:t>);</a:t>
            </a:r>
          </a:p>
          <a:p>
            <a:pPr>
              <a:lnSpc>
                <a:spcPts val="1425"/>
              </a:lnSpc>
              <a:buNone/>
            </a:pPr>
            <a:r>
              <a:rPr lang="en-IN" b="0" dirty="0" err="1">
                <a:solidFill>
                  <a:srgbClr val="0070C1"/>
                </a:solidFill>
                <a:effectLst/>
                <a:latin typeface="Consolas" panose="020B0609020204030204" pitchFamily="49" charset="0"/>
              </a:rPr>
              <a:t>router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'/dashboard'</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"Welcome "</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user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a:t>
            </a:r>
          </a:p>
          <a:p>
            <a:pPr>
              <a:lnSpc>
                <a:spcPts val="1425"/>
              </a:lnSpc>
              <a:buNone/>
            </a:pPr>
            <a:r>
              <a:rPr lang="en-IN" b="0" dirty="0" err="1">
                <a:solidFill>
                  <a:srgbClr val="0070C1"/>
                </a:solidFill>
                <a:effectLst/>
                <a:latin typeface="Consolas" panose="020B0609020204030204" pitchFamily="49" charset="0"/>
              </a:rPr>
              <a:t>router</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get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'/profile'</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pPr>
              <a:lnSpc>
                <a:spcPts val="1425"/>
              </a:lnSpc>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send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"Profile of "</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user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name</a:t>
            </a:r>
            <a:r>
              <a:rPr lang="en-IN" b="0" dirty="0">
                <a:solidFill>
                  <a:srgbClr val="000000"/>
                </a:solidFill>
                <a:effectLst/>
                <a:latin typeface="Consolas" panose="020B0609020204030204" pitchFamily="49" charset="0"/>
              </a:rPr>
              <a:t>);</a:t>
            </a:r>
          </a:p>
          <a:p>
            <a:pPr>
              <a:lnSpc>
                <a:spcPts val="1425"/>
              </a:lnSpc>
              <a:buNone/>
            </a:pPr>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6692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Router Methods (Cont.)</a:t>
            </a:r>
            <a:endParaRPr lang="en-US" dirty="0"/>
          </a:p>
        </p:txBody>
      </p:sp>
      <p:sp>
        <p:nvSpPr>
          <p:cNvPr id="3" name="Content Placeholder 2"/>
          <p:cNvSpPr>
            <a:spLocks noGrp="1"/>
          </p:cNvSpPr>
          <p:nvPr>
            <p:ph idx="1"/>
          </p:nvPr>
        </p:nvSpPr>
        <p:spPr/>
        <p:txBody>
          <a:bodyPr/>
          <a:lstStyle/>
          <a:p>
            <a:r>
              <a:rPr lang="en-US" altLang="en-US" b="1" dirty="0" err="1"/>
              <a:t>router.METHOD</a:t>
            </a:r>
            <a:r>
              <a:rPr lang="en-US" altLang="en-US" b="1" dirty="0"/>
              <a:t>(path, [callback, ...] callback)</a:t>
            </a:r>
          </a:p>
          <a:p>
            <a:r>
              <a:rPr lang="en-US" altLang="en-US" dirty="0"/>
              <a:t>The </a:t>
            </a:r>
            <a:r>
              <a:rPr lang="en-US" altLang="en-US" dirty="0" err="1"/>
              <a:t>router.METHOD</a:t>
            </a:r>
            <a:r>
              <a:rPr lang="en-US" altLang="en-US" dirty="0"/>
              <a:t>() methods provide the routing functionality in Express, where METHOD is one of the HTTP methods, such as GET, PUT, POST, and so on, in lowercase. Thus, the actual methods are </a:t>
            </a:r>
            <a:r>
              <a:rPr lang="en-US" altLang="en-US" dirty="0" err="1"/>
              <a:t>router.get</a:t>
            </a:r>
            <a:r>
              <a:rPr lang="en-US" altLang="en-US" dirty="0"/>
              <a:t>(), </a:t>
            </a:r>
            <a:r>
              <a:rPr lang="en-US" altLang="en-US" dirty="0" err="1"/>
              <a:t>router.post</a:t>
            </a:r>
            <a:r>
              <a:rPr lang="en-US" altLang="en-US" dirty="0"/>
              <a:t>(), </a:t>
            </a:r>
            <a:r>
              <a:rPr lang="en-US" altLang="en-US" dirty="0" err="1"/>
              <a:t>router.put</a:t>
            </a:r>
            <a:r>
              <a:rPr lang="en-US" altLang="en-US" dirty="0"/>
              <a:t>(), and so on.</a:t>
            </a:r>
          </a:p>
          <a:p>
            <a:r>
              <a:rPr lang="en-US" altLang="en-US" dirty="0"/>
              <a:t>You can provide multiple callbacks, and all are treated equally, and behave just like middleware, except that these callbacks may invoke next('route') to bypass the remaining route callback(s). You can use this mechanism to perform pre-conditions on a route then pass control to subsequent routes when there is no reason to proceed with the route matched.</a:t>
            </a:r>
          </a:p>
          <a:p>
            <a:pPr>
              <a:buFont typeface="Arial" panose="020B0604020202020204" pitchFamily="34" charset="0"/>
              <a:buNone/>
            </a:pPr>
            <a:r>
              <a:rPr lang="en-US" altLang="en-US" dirty="0"/>
              <a:t>		</a:t>
            </a:r>
            <a:r>
              <a:rPr lang="en-US" altLang="en-US" sz="2000" dirty="0" err="1">
                <a:latin typeface="Consolas" panose="020B0609020204030204" pitchFamily="49" charset="0"/>
              </a:rPr>
              <a:t>router.get</a:t>
            </a:r>
            <a:r>
              <a:rPr lang="en-US" altLang="en-US" sz="2000" dirty="0">
                <a:latin typeface="Consolas" panose="020B0609020204030204" pitchFamily="49" charset="0"/>
              </a:rPr>
              <a:t>('/', function(</a:t>
            </a:r>
            <a:r>
              <a:rPr lang="en-US" altLang="en-US" sz="2000" dirty="0" err="1">
                <a:latin typeface="Consolas" panose="020B0609020204030204" pitchFamily="49" charset="0"/>
              </a:rPr>
              <a:t>req</a:t>
            </a:r>
            <a:r>
              <a:rPr lang="en-US" altLang="en-US" sz="2000" dirty="0">
                <a:latin typeface="Consolas" panose="020B0609020204030204" pitchFamily="49" charset="0"/>
              </a:rPr>
              <a:t>, res){ </a:t>
            </a:r>
          </a:p>
          <a:p>
            <a:pPr>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res.send</a:t>
            </a:r>
            <a:r>
              <a:rPr lang="en-US" altLang="en-US" sz="2000" dirty="0">
                <a:latin typeface="Consolas" panose="020B0609020204030204" pitchFamily="49" charset="0"/>
              </a:rPr>
              <a:t>('hello world'); </a:t>
            </a:r>
          </a:p>
          <a:p>
            <a:pPr>
              <a:buFont typeface="Arial" panose="020B0604020202020204" pitchFamily="34" charset="0"/>
              <a:buNone/>
            </a:pPr>
            <a:r>
              <a:rPr lang="en-US" altLang="en-US" sz="2000" dirty="0">
                <a:latin typeface="Consolas" panose="020B0609020204030204" pitchFamily="49" charset="0"/>
              </a:rPr>
              <a:t>		});</a:t>
            </a:r>
          </a:p>
          <a:p>
            <a:endParaRPr lang="en-US" dirty="0"/>
          </a:p>
        </p:txBody>
      </p:sp>
    </p:spTree>
    <p:extLst>
      <p:ext uri="{BB962C8B-B14F-4D97-AF65-F5344CB8AC3E}">
        <p14:creationId xmlns:p14="http://schemas.microsoft.com/office/powerpoint/2010/main" val="2927903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Router Methods (Cont.)</a:t>
            </a:r>
            <a:endParaRPr lang="en-US" dirty="0"/>
          </a:p>
        </p:txBody>
      </p:sp>
      <p:sp>
        <p:nvSpPr>
          <p:cNvPr id="3" name="Content Placeholder 2"/>
          <p:cNvSpPr>
            <a:spLocks noGrp="1"/>
          </p:cNvSpPr>
          <p:nvPr>
            <p:ph idx="1"/>
          </p:nvPr>
        </p:nvSpPr>
        <p:spPr/>
        <p:txBody>
          <a:bodyPr/>
          <a:lstStyle/>
          <a:p>
            <a:r>
              <a:rPr lang="en-US" altLang="en-US" b="1" dirty="0" err="1"/>
              <a:t>router.use</a:t>
            </a:r>
            <a:r>
              <a:rPr lang="en-US" altLang="en-US" b="1" dirty="0"/>
              <a:t>([path], [function, ...] function)</a:t>
            </a:r>
          </a:p>
          <a:p>
            <a:r>
              <a:rPr lang="en-US" altLang="en-US" dirty="0"/>
              <a:t>Uses the specified middleware function or functions, with optional mount path </a:t>
            </a:r>
            <a:r>
              <a:rPr lang="en-US" altLang="en-US" dirty="0" err="1"/>
              <a:t>path</a:t>
            </a:r>
            <a:r>
              <a:rPr lang="en-US" altLang="en-US" dirty="0"/>
              <a:t>, that defaults to “/”.</a:t>
            </a:r>
          </a:p>
          <a:p>
            <a:r>
              <a:rPr lang="en-US" altLang="en-US" dirty="0"/>
              <a:t>Middleware is like a plumbing pipe: requests start at the first middleware function defined and work their way “down” the middleware stack processing for each path they match.</a:t>
            </a:r>
          </a:p>
          <a:p>
            <a:r>
              <a:rPr lang="en-US" altLang="en-US" dirty="0"/>
              <a:t>The order in which you define middleware with </a:t>
            </a:r>
            <a:r>
              <a:rPr lang="en-US" altLang="en-US" dirty="0" err="1"/>
              <a:t>router.use</a:t>
            </a:r>
            <a:r>
              <a:rPr lang="en-US" altLang="en-US" dirty="0"/>
              <a:t>() is very important. They are invoked sequentially, thus the order defines middleware precedence. For example, usually a logger is the very first middleware you would use, so that every request gets logged.</a:t>
            </a:r>
          </a:p>
          <a:p>
            <a:endParaRPr lang="en-US" altLang="en-US" dirty="0"/>
          </a:p>
          <a:p>
            <a:endParaRPr lang="en-US" dirty="0"/>
          </a:p>
        </p:txBody>
      </p:sp>
    </p:spTree>
    <p:extLst>
      <p:ext uri="{BB962C8B-B14F-4D97-AF65-F5344CB8AC3E}">
        <p14:creationId xmlns:p14="http://schemas.microsoft.com/office/powerpoint/2010/main" val="3502828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Router-level Middleware</a:t>
            </a:r>
            <a:endParaRPr lang="en-US" dirty="0"/>
          </a:p>
        </p:txBody>
      </p:sp>
      <p:sp>
        <p:nvSpPr>
          <p:cNvPr id="3" name="Content Placeholder 2"/>
          <p:cNvSpPr>
            <a:spLocks noGrp="1"/>
          </p:cNvSpPr>
          <p:nvPr>
            <p:ph idx="1"/>
          </p:nvPr>
        </p:nvSpPr>
        <p:spPr/>
        <p:txBody>
          <a:bodyPr/>
          <a:lstStyle/>
          <a:p>
            <a:r>
              <a:rPr lang="en-US" altLang="en-US" dirty="0"/>
              <a:t>Router-level middleware works in the same way as application-level middleware, except it is bound to an instance of </a:t>
            </a:r>
            <a:r>
              <a:rPr lang="en-US" altLang="en-US" dirty="0" err="1"/>
              <a:t>express.Router</a:t>
            </a:r>
            <a:r>
              <a:rPr lang="en-US" altLang="en-US" dirty="0"/>
              <a:t>().</a:t>
            </a:r>
          </a:p>
          <a:p>
            <a:pPr>
              <a:buFont typeface="Arial" panose="020B0604020202020204" pitchFamily="34" charset="0"/>
              <a:buNone/>
            </a:pPr>
            <a:r>
              <a:rPr lang="en-US" altLang="en-US" dirty="0"/>
              <a:t>		</a:t>
            </a:r>
            <a:r>
              <a:rPr lang="en-US" altLang="en-US" dirty="0" err="1"/>
              <a:t>var</a:t>
            </a:r>
            <a:r>
              <a:rPr lang="en-US" altLang="en-US" dirty="0"/>
              <a:t> router = </a:t>
            </a:r>
            <a:r>
              <a:rPr lang="en-US" altLang="en-US" dirty="0" err="1"/>
              <a:t>express.Router</a:t>
            </a:r>
            <a:r>
              <a:rPr lang="en-US" altLang="en-US" dirty="0"/>
              <a:t>();</a:t>
            </a:r>
          </a:p>
          <a:p>
            <a:r>
              <a:rPr lang="en-US" altLang="en-US" dirty="0"/>
              <a:t>Load router-level middleware by using the </a:t>
            </a:r>
            <a:r>
              <a:rPr lang="en-US" altLang="en-US" dirty="0" err="1"/>
              <a:t>router.use</a:t>
            </a:r>
            <a:r>
              <a:rPr lang="en-US" altLang="en-US" dirty="0"/>
              <a:t>() and </a:t>
            </a:r>
            <a:r>
              <a:rPr lang="en-US" altLang="en-US" dirty="0" err="1"/>
              <a:t>router.METHOD</a:t>
            </a:r>
            <a:r>
              <a:rPr lang="en-US" altLang="en-US" dirty="0"/>
              <a:t>() functions.</a:t>
            </a:r>
          </a:p>
          <a:p>
            <a:endParaRPr lang="en-US" dirty="0"/>
          </a:p>
        </p:txBody>
      </p:sp>
    </p:spTree>
    <p:extLst>
      <p:ext uri="{BB962C8B-B14F-4D97-AF65-F5344CB8AC3E}">
        <p14:creationId xmlns:p14="http://schemas.microsoft.com/office/powerpoint/2010/main" val="2292979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Built-in Middleware</a:t>
            </a:r>
            <a:endParaRPr lang="en-US" dirty="0"/>
          </a:p>
        </p:txBody>
      </p:sp>
      <p:sp>
        <p:nvSpPr>
          <p:cNvPr id="3" name="Content Placeholder 2"/>
          <p:cNvSpPr>
            <a:spLocks noGrp="1"/>
          </p:cNvSpPr>
          <p:nvPr>
            <p:ph idx="1"/>
          </p:nvPr>
        </p:nvSpPr>
        <p:spPr/>
        <p:txBody>
          <a:bodyPr/>
          <a:lstStyle/>
          <a:p>
            <a:r>
              <a:rPr lang="en-US" altLang="en-US" dirty="0"/>
              <a:t>Built-in middleware are middleware functions that are already provided by Express. They are used to </a:t>
            </a:r>
            <a:r>
              <a:rPr lang="en-US" altLang="en-US" i="1" u="sng" dirty="0"/>
              <a:t>process incoming request data before it reaches the route handler</a:t>
            </a:r>
            <a:r>
              <a:rPr lang="en-US" altLang="en-US" dirty="0"/>
              <a:t>.</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dirty="0"/>
          </a:p>
        </p:txBody>
      </p:sp>
      <p:graphicFrame>
        <p:nvGraphicFramePr>
          <p:cNvPr id="4" name="Table 3">
            <a:extLst>
              <a:ext uri="{FF2B5EF4-FFF2-40B4-BE49-F238E27FC236}">
                <a16:creationId xmlns:a16="http://schemas.microsoft.com/office/drawing/2014/main" id="{9C33CB73-D182-1237-FB70-FF2B41208CEE}"/>
              </a:ext>
            </a:extLst>
          </p:cNvPr>
          <p:cNvGraphicFramePr>
            <a:graphicFrameLocks noGrp="1"/>
          </p:cNvGraphicFramePr>
          <p:nvPr>
            <p:extLst>
              <p:ext uri="{D42A27DB-BD31-4B8C-83A1-F6EECF244321}">
                <p14:modId xmlns:p14="http://schemas.microsoft.com/office/powerpoint/2010/main" val="757169699"/>
              </p:ext>
            </p:extLst>
          </p:nvPr>
        </p:nvGraphicFramePr>
        <p:xfrm>
          <a:off x="715561" y="1836788"/>
          <a:ext cx="10515600" cy="3135804"/>
        </p:xfrm>
        <a:graphic>
          <a:graphicData uri="http://schemas.openxmlformats.org/drawingml/2006/table">
            <a:tbl>
              <a:tblPr/>
              <a:tblGrid>
                <a:gridCol w="5257800">
                  <a:extLst>
                    <a:ext uri="{9D8B030D-6E8A-4147-A177-3AD203B41FA5}">
                      <a16:colId xmlns:a16="http://schemas.microsoft.com/office/drawing/2014/main" val="2836705253"/>
                    </a:ext>
                  </a:extLst>
                </a:gridCol>
                <a:gridCol w="5257800">
                  <a:extLst>
                    <a:ext uri="{9D8B030D-6E8A-4147-A177-3AD203B41FA5}">
                      <a16:colId xmlns:a16="http://schemas.microsoft.com/office/drawing/2014/main" val="2392511160"/>
                    </a:ext>
                  </a:extLst>
                </a:gridCol>
              </a:tblGrid>
              <a:tr h="522634">
                <a:tc>
                  <a:txBody>
                    <a:bodyPr/>
                    <a:lstStyle/>
                    <a:p>
                      <a:pPr>
                        <a:buNone/>
                      </a:pPr>
                      <a:r>
                        <a:rPr lang="en-IN" sz="2000" b="1" dirty="0"/>
                        <a:t>Middleware</a:t>
                      </a:r>
                    </a:p>
                  </a:txBody>
                  <a:tcPr anchor="ctr">
                    <a:lnL>
                      <a:noFill/>
                    </a:lnL>
                    <a:lnR>
                      <a:noFill/>
                    </a:lnR>
                    <a:lnT>
                      <a:noFill/>
                    </a:lnT>
                    <a:lnB>
                      <a:noFill/>
                    </a:lnB>
                    <a:noFill/>
                  </a:tcPr>
                </a:tc>
                <a:tc>
                  <a:txBody>
                    <a:bodyPr/>
                    <a:lstStyle/>
                    <a:p>
                      <a:pPr>
                        <a:buNone/>
                      </a:pPr>
                      <a:r>
                        <a:rPr lang="en-IN" sz="2000" b="1" dirty="0"/>
                        <a:t>Purpose</a:t>
                      </a:r>
                    </a:p>
                  </a:txBody>
                  <a:tcPr anchor="ctr">
                    <a:lnL>
                      <a:noFill/>
                    </a:lnL>
                    <a:lnR>
                      <a:noFill/>
                    </a:lnR>
                    <a:lnT>
                      <a:noFill/>
                    </a:lnT>
                    <a:lnB>
                      <a:noFill/>
                    </a:lnB>
                    <a:noFill/>
                  </a:tcPr>
                </a:tc>
                <a:extLst>
                  <a:ext uri="{0D108BD9-81ED-4DB2-BD59-A6C34878D82A}">
                    <a16:rowId xmlns:a16="http://schemas.microsoft.com/office/drawing/2014/main" val="2201474561"/>
                  </a:ext>
                </a:extLst>
              </a:tr>
              <a:tr h="522634">
                <a:tc>
                  <a:txBody>
                    <a:bodyPr/>
                    <a:lstStyle/>
                    <a:p>
                      <a:pPr>
                        <a:buNone/>
                      </a:pPr>
                      <a:r>
                        <a:rPr lang="en-IN" sz="2000" dirty="0" err="1">
                          <a:latin typeface="Courier New" panose="02070309020205020404" pitchFamily="49" charset="0"/>
                        </a:rPr>
                        <a:t>express.json</a:t>
                      </a:r>
                      <a:r>
                        <a:rPr lang="en-IN" sz="2000" dirty="0">
                          <a:latin typeface="Courier New" panose="02070309020205020404" pitchFamily="49" charset="0"/>
                        </a:rPr>
                        <a:t>()</a:t>
                      </a:r>
                      <a:endParaRPr lang="en-IN" sz="2000" dirty="0"/>
                    </a:p>
                  </a:txBody>
                  <a:tcPr anchor="ctr">
                    <a:lnL>
                      <a:noFill/>
                    </a:lnL>
                    <a:lnR>
                      <a:noFill/>
                    </a:lnR>
                    <a:lnT>
                      <a:noFill/>
                    </a:lnT>
                    <a:lnB>
                      <a:noFill/>
                    </a:lnB>
                    <a:noFill/>
                  </a:tcPr>
                </a:tc>
                <a:tc>
                  <a:txBody>
                    <a:bodyPr/>
                    <a:lstStyle/>
                    <a:p>
                      <a:pPr>
                        <a:buNone/>
                      </a:pPr>
                      <a:r>
                        <a:rPr lang="en-IN" sz="2000"/>
                        <a:t>Parses JSON request body</a:t>
                      </a:r>
                    </a:p>
                  </a:txBody>
                  <a:tcPr anchor="ctr">
                    <a:lnL>
                      <a:noFill/>
                    </a:lnL>
                    <a:lnR>
                      <a:noFill/>
                    </a:lnR>
                    <a:lnT>
                      <a:noFill/>
                    </a:lnT>
                    <a:lnB>
                      <a:noFill/>
                    </a:lnB>
                    <a:noFill/>
                  </a:tcPr>
                </a:tc>
                <a:extLst>
                  <a:ext uri="{0D108BD9-81ED-4DB2-BD59-A6C34878D82A}">
                    <a16:rowId xmlns:a16="http://schemas.microsoft.com/office/drawing/2014/main" val="2843683081"/>
                  </a:ext>
                </a:extLst>
              </a:tr>
              <a:tr h="522634">
                <a:tc>
                  <a:txBody>
                    <a:bodyPr/>
                    <a:lstStyle/>
                    <a:p>
                      <a:pPr>
                        <a:buNone/>
                      </a:pPr>
                      <a:r>
                        <a:rPr lang="en-IN" sz="2000" dirty="0" err="1">
                          <a:latin typeface="Courier New" panose="02070309020205020404" pitchFamily="49" charset="0"/>
                        </a:rPr>
                        <a:t>express.urlencoded</a:t>
                      </a:r>
                      <a:r>
                        <a:rPr lang="en-IN" sz="2000" dirty="0">
                          <a:latin typeface="Courier New" panose="02070309020205020404" pitchFamily="49" charset="0"/>
                        </a:rPr>
                        <a:t>()</a:t>
                      </a:r>
                      <a:endParaRPr lang="en-IN" sz="2000" dirty="0"/>
                    </a:p>
                  </a:txBody>
                  <a:tcPr anchor="ctr">
                    <a:lnL>
                      <a:noFill/>
                    </a:lnL>
                    <a:lnR>
                      <a:noFill/>
                    </a:lnR>
                    <a:lnT>
                      <a:noFill/>
                    </a:lnT>
                    <a:lnB>
                      <a:noFill/>
                    </a:lnB>
                    <a:noFill/>
                  </a:tcPr>
                </a:tc>
                <a:tc>
                  <a:txBody>
                    <a:bodyPr/>
                    <a:lstStyle/>
                    <a:p>
                      <a:pPr>
                        <a:buNone/>
                      </a:pPr>
                      <a:r>
                        <a:rPr lang="en-IN" sz="2000"/>
                        <a:t>Parses form data</a:t>
                      </a:r>
                    </a:p>
                  </a:txBody>
                  <a:tcPr anchor="ctr">
                    <a:lnL>
                      <a:noFill/>
                    </a:lnL>
                    <a:lnR>
                      <a:noFill/>
                    </a:lnR>
                    <a:lnT>
                      <a:noFill/>
                    </a:lnT>
                    <a:lnB>
                      <a:noFill/>
                    </a:lnB>
                    <a:noFill/>
                  </a:tcPr>
                </a:tc>
                <a:extLst>
                  <a:ext uri="{0D108BD9-81ED-4DB2-BD59-A6C34878D82A}">
                    <a16:rowId xmlns:a16="http://schemas.microsoft.com/office/drawing/2014/main" val="2328382627"/>
                  </a:ext>
                </a:extLst>
              </a:tr>
              <a:tr h="522634">
                <a:tc>
                  <a:txBody>
                    <a:bodyPr/>
                    <a:lstStyle/>
                    <a:p>
                      <a:pPr>
                        <a:buNone/>
                      </a:pPr>
                      <a:r>
                        <a:rPr lang="en-IN" sz="2000">
                          <a:latin typeface="Courier New" panose="02070309020205020404" pitchFamily="49" charset="0"/>
                        </a:rPr>
                        <a:t>express.static()</a:t>
                      </a:r>
                      <a:endParaRPr lang="en-IN" sz="2000"/>
                    </a:p>
                  </a:txBody>
                  <a:tcPr anchor="ctr">
                    <a:lnL>
                      <a:noFill/>
                    </a:lnL>
                    <a:lnR>
                      <a:noFill/>
                    </a:lnR>
                    <a:lnT>
                      <a:noFill/>
                    </a:lnT>
                    <a:lnB>
                      <a:noFill/>
                    </a:lnB>
                    <a:noFill/>
                  </a:tcPr>
                </a:tc>
                <a:tc>
                  <a:txBody>
                    <a:bodyPr/>
                    <a:lstStyle/>
                    <a:p>
                      <a:pPr>
                        <a:buNone/>
                      </a:pPr>
                      <a:r>
                        <a:rPr lang="en-IN" sz="2000" dirty="0"/>
                        <a:t>Serves static files</a:t>
                      </a:r>
                    </a:p>
                  </a:txBody>
                  <a:tcPr anchor="ctr">
                    <a:lnL>
                      <a:noFill/>
                    </a:lnL>
                    <a:lnR>
                      <a:noFill/>
                    </a:lnR>
                    <a:lnT>
                      <a:noFill/>
                    </a:lnT>
                    <a:lnB>
                      <a:noFill/>
                    </a:lnB>
                    <a:noFill/>
                  </a:tcPr>
                </a:tc>
                <a:extLst>
                  <a:ext uri="{0D108BD9-81ED-4DB2-BD59-A6C34878D82A}">
                    <a16:rowId xmlns:a16="http://schemas.microsoft.com/office/drawing/2014/main" val="304005725"/>
                  </a:ext>
                </a:extLst>
              </a:tr>
              <a:tr h="522634">
                <a:tc>
                  <a:txBody>
                    <a:bodyPr/>
                    <a:lstStyle/>
                    <a:p>
                      <a:pPr>
                        <a:buNone/>
                      </a:pPr>
                      <a:r>
                        <a:rPr lang="en-IN" sz="2000">
                          <a:latin typeface="Courier New" panose="02070309020205020404" pitchFamily="49" charset="0"/>
                        </a:rPr>
                        <a:t>express.raw()</a:t>
                      </a:r>
                      <a:endParaRPr lang="en-IN" sz="2000"/>
                    </a:p>
                  </a:txBody>
                  <a:tcPr anchor="ctr">
                    <a:lnL>
                      <a:noFill/>
                    </a:lnL>
                    <a:lnR>
                      <a:noFill/>
                    </a:lnR>
                    <a:lnT>
                      <a:noFill/>
                    </a:lnT>
                    <a:lnB>
                      <a:noFill/>
                    </a:lnB>
                    <a:noFill/>
                  </a:tcPr>
                </a:tc>
                <a:tc>
                  <a:txBody>
                    <a:bodyPr/>
                    <a:lstStyle/>
                    <a:p>
                      <a:pPr>
                        <a:buNone/>
                      </a:pPr>
                      <a:r>
                        <a:rPr lang="en-IN" sz="2000"/>
                        <a:t>Parses raw binary data</a:t>
                      </a:r>
                    </a:p>
                  </a:txBody>
                  <a:tcPr anchor="ctr">
                    <a:lnL>
                      <a:noFill/>
                    </a:lnL>
                    <a:lnR>
                      <a:noFill/>
                    </a:lnR>
                    <a:lnT>
                      <a:noFill/>
                    </a:lnT>
                    <a:lnB>
                      <a:noFill/>
                    </a:lnB>
                    <a:noFill/>
                  </a:tcPr>
                </a:tc>
                <a:extLst>
                  <a:ext uri="{0D108BD9-81ED-4DB2-BD59-A6C34878D82A}">
                    <a16:rowId xmlns:a16="http://schemas.microsoft.com/office/drawing/2014/main" val="2066175045"/>
                  </a:ext>
                </a:extLst>
              </a:tr>
              <a:tr h="522634">
                <a:tc>
                  <a:txBody>
                    <a:bodyPr/>
                    <a:lstStyle/>
                    <a:p>
                      <a:pPr>
                        <a:buNone/>
                      </a:pPr>
                      <a:r>
                        <a:rPr lang="en-IN" sz="2000">
                          <a:latin typeface="Courier New" panose="02070309020205020404" pitchFamily="49" charset="0"/>
                        </a:rPr>
                        <a:t>express.text()</a:t>
                      </a:r>
                      <a:endParaRPr lang="en-IN" sz="2000"/>
                    </a:p>
                  </a:txBody>
                  <a:tcPr anchor="ctr">
                    <a:lnL>
                      <a:noFill/>
                    </a:lnL>
                    <a:lnR>
                      <a:noFill/>
                    </a:lnR>
                    <a:lnT>
                      <a:noFill/>
                    </a:lnT>
                    <a:lnB>
                      <a:noFill/>
                    </a:lnB>
                    <a:noFill/>
                  </a:tcPr>
                </a:tc>
                <a:tc>
                  <a:txBody>
                    <a:bodyPr/>
                    <a:lstStyle/>
                    <a:p>
                      <a:pPr>
                        <a:buNone/>
                      </a:pPr>
                      <a:r>
                        <a:rPr lang="en-IN" sz="2000" dirty="0"/>
                        <a:t>Parses plain text data</a:t>
                      </a:r>
                    </a:p>
                  </a:txBody>
                  <a:tcPr anchor="ctr">
                    <a:lnL>
                      <a:noFill/>
                    </a:lnL>
                    <a:lnR>
                      <a:noFill/>
                    </a:lnR>
                    <a:lnT>
                      <a:noFill/>
                    </a:lnT>
                    <a:lnB>
                      <a:noFill/>
                    </a:lnB>
                    <a:noFill/>
                  </a:tcPr>
                </a:tc>
                <a:extLst>
                  <a:ext uri="{0D108BD9-81ED-4DB2-BD59-A6C34878D82A}">
                    <a16:rowId xmlns:a16="http://schemas.microsoft.com/office/drawing/2014/main" val="1034295281"/>
                  </a:ext>
                </a:extLst>
              </a:tr>
            </a:tbl>
          </a:graphicData>
        </a:graphic>
      </p:graphicFrame>
    </p:spTree>
    <p:extLst>
      <p:ext uri="{BB962C8B-B14F-4D97-AF65-F5344CB8AC3E}">
        <p14:creationId xmlns:p14="http://schemas.microsoft.com/office/powerpoint/2010/main" val="4197617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Built-in Middleware (Cont.)</a:t>
            </a:r>
            <a:endParaRPr lang="en-US" dirty="0"/>
          </a:p>
        </p:txBody>
      </p:sp>
      <p:sp>
        <p:nvSpPr>
          <p:cNvPr id="3" name="Content Placeholder 2"/>
          <p:cNvSpPr>
            <a:spLocks noGrp="1"/>
          </p:cNvSpPr>
          <p:nvPr>
            <p:ph idx="1"/>
          </p:nvPr>
        </p:nvSpPr>
        <p:spPr/>
        <p:txBody>
          <a:bodyPr/>
          <a:lstStyle/>
          <a:p>
            <a:r>
              <a:rPr lang="en-US" altLang="en-US" dirty="0"/>
              <a:t>Here is an example of using the express.static middleware function with an elaborate options object:</a:t>
            </a:r>
          </a:p>
          <a:p>
            <a:pPr>
              <a:lnSpc>
                <a:spcPct val="100000"/>
              </a:lnSpc>
              <a:spcBef>
                <a:spcPts val="0"/>
              </a:spcBef>
              <a:buFont typeface="Arial" panose="020B0604020202020204" pitchFamily="34" charset="0"/>
              <a:buNone/>
            </a:pPr>
            <a:r>
              <a:rPr lang="en-US" altLang="en-US" dirty="0"/>
              <a:t>		</a:t>
            </a:r>
            <a:r>
              <a:rPr lang="en-US" altLang="en-US" sz="2000" dirty="0" err="1">
                <a:latin typeface="Consolas" panose="020B0609020204030204" pitchFamily="49" charset="0"/>
              </a:rPr>
              <a:t>var</a:t>
            </a:r>
            <a:r>
              <a:rPr lang="en-US" altLang="en-US" sz="2000" dirty="0">
                <a:latin typeface="Consolas" panose="020B0609020204030204" pitchFamily="49" charset="0"/>
              </a:rPr>
              <a:t> options = { </a:t>
            </a:r>
            <a:r>
              <a:rPr lang="en-US" altLang="en-US" sz="2000" dirty="0" err="1">
                <a:latin typeface="Consolas" panose="020B0609020204030204" pitchFamily="49" charset="0"/>
              </a:rPr>
              <a:t>dotfiles</a:t>
            </a:r>
            <a:r>
              <a:rPr lang="en-US" altLang="en-US" sz="2000" dirty="0">
                <a:latin typeface="Consolas" panose="020B0609020204030204" pitchFamily="49" charset="0"/>
              </a:rPr>
              <a:t>: 'ignore',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etag</a:t>
            </a:r>
            <a:r>
              <a:rPr lang="en-US" altLang="en-US" sz="2000" dirty="0">
                <a:latin typeface="Consolas" panose="020B0609020204030204" pitchFamily="49" charset="0"/>
              </a:rPr>
              <a:t>: false,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extensions: ['</a:t>
            </a:r>
            <a:r>
              <a:rPr lang="en-US" altLang="en-US" sz="2000" dirty="0" err="1">
                <a:latin typeface="Consolas" panose="020B0609020204030204" pitchFamily="49" charset="0"/>
              </a:rPr>
              <a:t>htm</a:t>
            </a:r>
            <a:r>
              <a:rPr lang="en-US" altLang="en-US" sz="2000" dirty="0">
                <a:latin typeface="Consolas" panose="020B0609020204030204" pitchFamily="49" charset="0"/>
              </a:rPr>
              <a:t>', 'html'],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index: false,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maxAge</a:t>
            </a:r>
            <a:r>
              <a:rPr lang="en-US" altLang="en-US" sz="2000" dirty="0">
                <a:latin typeface="Consolas" panose="020B0609020204030204" pitchFamily="49" charset="0"/>
              </a:rPr>
              <a:t>: '1d',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redirect: false,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setHeaders</a:t>
            </a:r>
            <a:r>
              <a:rPr lang="en-US" altLang="en-US" sz="2000" dirty="0">
                <a:latin typeface="Consolas" panose="020B0609020204030204" pitchFamily="49" charset="0"/>
              </a:rPr>
              <a:t>: function (res, path, stat) {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res.set</a:t>
            </a:r>
            <a:r>
              <a:rPr lang="en-US" altLang="en-US" sz="2000" dirty="0">
                <a:latin typeface="Consolas" panose="020B0609020204030204" pitchFamily="49" charset="0"/>
              </a:rPr>
              <a:t>('x-timestamp', </a:t>
            </a:r>
            <a:r>
              <a:rPr lang="en-US" altLang="en-US" sz="2000" dirty="0" err="1">
                <a:latin typeface="Consolas" panose="020B0609020204030204" pitchFamily="49" charset="0"/>
              </a:rPr>
              <a:t>Date.now</a:t>
            </a:r>
            <a:r>
              <a:rPr lang="en-US" altLang="en-US" sz="2000" dirty="0">
                <a:latin typeface="Consolas" panose="020B0609020204030204" pitchFamily="49" charset="0"/>
              </a:rPr>
              <a:t>());</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app.use</a:t>
            </a:r>
            <a:r>
              <a:rPr lang="en-US" altLang="en-US" sz="2000" dirty="0">
                <a:latin typeface="Consolas" panose="020B0609020204030204" pitchFamily="49" charset="0"/>
              </a:rPr>
              <a:t>(</a:t>
            </a:r>
            <a:r>
              <a:rPr lang="en-US" altLang="en-US" sz="2000" dirty="0" err="1">
                <a:latin typeface="Consolas" panose="020B0609020204030204" pitchFamily="49" charset="0"/>
              </a:rPr>
              <a:t>express.static</a:t>
            </a:r>
            <a:r>
              <a:rPr lang="en-US" altLang="en-US" sz="2000" dirty="0">
                <a:latin typeface="Consolas" panose="020B0609020204030204" pitchFamily="49" charset="0"/>
              </a:rPr>
              <a:t>('public', options));</a:t>
            </a:r>
          </a:p>
          <a:p>
            <a:r>
              <a:rPr lang="en-US" altLang="en-US" dirty="0"/>
              <a:t>You can have more than one static directory per app:</a:t>
            </a:r>
          </a:p>
          <a:p>
            <a:pPr>
              <a:spcBef>
                <a:spcPts val="0"/>
              </a:spcBef>
              <a:buFont typeface="Arial" panose="020B0604020202020204" pitchFamily="34" charset="0"/>
              <a:buNone/>
            </a:pPr>
            <a:r>
              <a:rPr lang="en-US" altLang="en-US" dirty="0"/>
              <a:t>		</a:t>
            </a:r>
            <a:r>
              <a:rPr lang="en-US" altLang="en-US" sz="2000" dirty="0" err="1">
                <a:latin typeface="Consolas" panose="020B0609020204030204" pitchFamily="49" charset="0"/>
              </a:rPr>
              <a:t>app.use</a:t>
            </a:r>
            <a:r>
              <a:rPr lang="en-US" altLang="en-US" sz="2000" dirty="0">
                <a:latin typeface="Consolas" panose="020B0609020204030204" pitchFamily="49" charset="0"/>
              </a:rPr>
              <a:t>(</a:t>
            </a:r>
            <a:r>
              <a:rPr lang="en-US" altLang="en-US" sz="2000" dirty="0" err="1">
                <a:latin typeface="Consolas" panose="020B0609020204030204" pitchFamily="49" charset="0"/>
              </a:rPr>
              <a:t>express.static</a:t>
            </a:r>
            <a:r>
              <a:rPr lang="en-US" altLang="en-US" sz="2000" dirty="0">
                <a:latin typeface="Consolas" panose="020B0609020204030204" pitchFamily="49" charset="0"/>
              </a:rPr>
              <a:t>('public')); </a:t>
            </a:r>
          </a:p>
          <a:p>
            <a:pPr>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app.use</a:t>
            </a:r>
            <a:r>
              <a:rPr lang="en-US" altLang="en-US" sz="2000" dirty="0">
                <a:latin typeface="Consolas" panose="020B0609020204030204" pitchFamily="49" charset="0"/>
              </a:rPr>
              <a:t>(</a:t>
            </a:r>
            <a:r>
              <a:rPr lang="en-US" altLang="en-US" sz="2000" dirty="0" err="1">
                <a:latin typeface="Consolas" panose="020B0609020204030204" pitchFamily="49" charset="0"/>
              </a:rPr>
              <a:t>express.static</a:t>
            </a:r>
            <a:r>
              <a:rPr lang="en-US" altLang="en-US" sz="2000" dirty="0">
                <a:latin typeface="Consolas" panose="020B0609020204030204" pitchFamily="49" charset="0"/>
              </a:rPr>
              <a:t>('uploads')); </a:t>
            </a:r>
          </a:p>
          <a:p>
            <a:pPr>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app.use</a:t>
            </a:r>
            <a:r>
              <a:rPr lang="en-US" altLang="en-US" sz="2000" dirty="0">
                <a:latin typeface="Consolas" panose="020B0609020204030204" pitchFamily="49" charset="0"/>
              </a:rPr>
              <a:t>(express.static('files'));</a:t>
            </a:r>
            <a:endParaRPr lang="en-US" altLang="en-US" dirty="0"/>
          </a:p>
          <a:p>
            <a:endParaRPr lang="en-US" dirty="0"/>
          </a:p>
        </p:txBody>
      </p:sp>
    </p:spTree>
    <p:extLst>
      <p:ext uri="{BB962C8B-B14F-4D97-AF65-F5344CB8AC3E}">
        <p14:creationId xmlns:p14="http://schemas.microsoft.com/office/powerpoint/2010/main" val="317723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Serving Static files in Express</a:t>
            </a:r>
            <a:endParaRPr lang="en-US" dirty="0"/>
          </a:p>
        </p:txBody>
      </p:sp>
      <p:sp>
        <p:nvSpPr>
          <p:cNvPr id="3" name="Content Placeholder 2"/>
          <p:cNvSpPr>
            <a:spLocks noGrp="1"/>
          </p:cNvSpPr>
          <p:nvPr>
            <p:ph idx="1"/>
          </p:nvPr>
        </p:nvSpPr>
        <p:spPr/>
        <p:txBody>
          <a:bodyPr/>
          <a:lstStyle/>
          <a:p>
            <a:r>
              <a:rPr lang="en-US" altLang="en-US" dirty="0"/>
              <a:t>To serve static files such as images, CSS files, and JavaScript files, use the express.static built-in middleware function in Express.</a:t>
            </a:r>
          </a:p>
          <a:p>
            <a:r>
              <a:rPr lang="en-US" altLang="en-US" dirty="0"/>
              <a:t>Pass the name of the directory that contains the static assets to the express.static middleware function to start serving the files directly. For example, use the following code to serve images, CSS files, and JavaScript files in a directory named public:</a:t>
            </a:r>
          </a:p>
          <a:p>
            <a:pPr>
              <a:buFont typeface="Arial" panose="020B0604020202020204" pitchFamily="34" charset="0"/>
              <a:buNone/>
            </a:pPr>
            <a:r>
              <a:rPr lang="en-US" altLang="en-US" dirty="0"/>
              <a:t>		</a:t>
            </a:r>
            <a:r>
              <a:rPr lang="en-US" altLang="en-US" sz="2000" dirty="0" err="1">
                <a:latin typeface="Consolas" panose="020B0609020204030204" pitchFamily="49" charset="0"/>
              </a:rPr>
              <a:t>app.use</a:t>
            </a:r>
            <a:r>
              <a:rPr lang="en-US" altLang="en-US" sz="2000" dirty="0">
                <a:latin typeface="Consolas" panose="020B0609020204030204" pitchFamily="49" charset="0"/>
              </a:rPr>
              <a:t>(</a:t>
            </a:r>
            <a:r>
              <a:rPr lang="en-US" altLang="en-US" sz="2000" dirty="0" err="1">
                <a:latin typeface="Consolas" panose="020B0609020204030204" pitchFamily="49" charset="0"/>
              </a:rPr>
              <a:t>express.static</a:t>
            </a:r>
            <a:r>
              <a:rPr lang="en-US" altLang="en-US" sz="2000" dirty="0">
                <a:latin typeface="Consolas" panose="020B0609020204030204" pitchFamily="49" charset="0"/>
              </a:rPr>
              <a:t>('public'));</a:t>
            </a:r>
          </a:p>
          <a:p>
            <a:r>
              <a:rPr lang="en-US" altLang="en-US" dirty="0"/>
              <a:t>Now, you can load the files that are in the public directory:</a:t>
            </a:r>
          </a:p>
          <a:p>
            <a:pPr>
              <a:spcBef>
                <a:spcPts val="0"/>
              </a:spcBef>
              <a:buFont typeface="Arial" panose="020B0604020202020204" pitchFamily="34" charset="0"/>
              <a:buNone/>
            </a:pPr>
            <a:r>
              <a:rPr lang="en-US" altLang="en-US" dirty="0"/>
              <a:t>		</a:t>
            </a:r>
            <a:r>
              <a:rPr lang="en-US" altLang="en-US" sz="2000" dirty="0">
                <a:latin typeface="Consolas" panose="020B0609020204030204" pitchFamily="49" charset="0"/>
              </a:rPr>
              <a:t>http://localhost:3000/images/kitten.jpg </a:t>
            </a:r>
          </a:p>
          <a:p>
            <a:pPr>
              <a:spcBef>
                <a:spcPts val="0"/>
              </a:spcBef>
              <a:buFont typeface="Arial" panose="020B0604020202020204" pitchFamily="34" charset="0"/>
              <a:buNone/>
            </a:pPr>
            <a:r>
              <a:rPr lang="en-US" altLang="en-US" sz="2000" dirty="0">
                <a:latin typeface="Consolas" panose="020B0609020204030204" pitchFamily="49" charset="0"/>
              </a:rPr>
              <a:t>		http://localhost:3000/css/style.css 	</a:t>
            </a:r>
          </a:p>
          <a:p>
            <a:pPr>
              <a:spcBef>
                <a:spcPts val="0"/>
              </a:spcBef>
              <a:buFont typeface="Arial" panose="020B0604020202020204" pitchFamily="34" charset="0"/>
              <a:buNone/>
            </a:pPr>
            <a:r>
              <a:rPr lang="en-US" altLang="en-US" sz="2000" dirty="0">
                <a:latin typeface="Consolas" panose="020B0609020204030204" pitchFamily="49" charset="0"/>
              </a:rPr>
              <a:t>		http://localhost:3000/js/app.js </a:t>
            </a:r>
          </a:p>
          <a:p>
            <a:pPr>
              <a:spcBef>
                <a:spcPts val="0"/>
              </a:spcBef>
              <a:buFont typeface="Arial" panose="020B0604020202020204" pitchFamily="34" charset="0"/>
              <a:buNone/>
            </a:pPr>
            <a:r>
              <a:rPr lang="en-US" altLang="en-US" sz="2000" dirty="0">
                <a:latin typeface="Consolas" panose="020B0609020204030204" pitchFamily="49" charset="0"/>
              </a:rPr>
              <a:t>		http://localhost:3000/images/bg.png 	</a:t>
            </a:r>
          </a:p>
          <a:p>
            <a:pPr>
              <a:spcBef>
                <a:spcPts val="0"/>
              </a:spcBef>
              <a:buFont typeface="Arial" panose="020B0604020202020204" pitchFamily="34" charset="0"/>
              <a:buNone/>
            </a:pPr>
            <a:r>
              <a:rPr lang="en-US" altLang="en-US" sz="2000" dirty="0">
                <a:latin typeface="Consolas" panose="020B0609020204030204" pitchFamily="49" charset="0"/>
              </a:rPr>
              <a:t>		http://localhost:3000/hello.html</a:t>
            </a:r>
          </a:p>
          <a:p>
            <a:r>
              <a:rPr lang="en-US" altLang="en-US" dirty="0"/>
              <a:t>To use multiple static assets directories, call the express.static middleware function multiple times:</a:t>
            </a:r>
          </a:p>
          <a:p>
            <a:pPr>
              <a:spcBef>
                <a:spcPts val="0"/>
              </a:spcBef>
              <a:buFont typeface="Arial" panose="020B0604020202020204" pitchFamily="34" charset="0"/>
              <a:buNone/>
            </a:pPr>
            <a:r>
              <a:rPr lang="en-US" altLang="en-US" dirty="0"/>
              <a:t>		</a:t>
            </a:r>
            <a:r>
              <a:rPr lang="en-US" altLang="en-US" sz="2000" dirty="0" err="1">
                <a:latin typeface="Consolas" panose="020B0609020204030204" pitchFamily="49" charset="0"/>
              </a:rPr>
              <a:t>app.use</a:t>
            </a:r>
            <a:r>
              <a:rPr lang="en-US" altLang="en-US" sz="2000" dirty="0">
                <a:latin typeface="Consolas" panose="020B0609020204030204" pitchFamily="49" charset="0"/>
              </a:rPr>
              <a:t>(</a:t>
            </a:r>
            <a:r>
              <a:rPr lang="en-US" altLang="en-US" sz="2000" dirty="0" err="1">
                <a:latin typeface="Consolas" panose="020B0609020204030204" pitchFamily="49" charset="0"/>
              </a:rPr>
              <a:t>express.static</a:t>
            </a:r>
            <a:r>
              <a:rPr lang="en-US" altLang="en-US" sz="2000" dirty="0">
                <a:latin typeface="Consolas" panose="020B0609020204030204" pitchFamily="49" charset="0"/>
              </a:rPr>
              <a:t>('public')); </a:t>
            </a:r>
          </a:p>
          <a:p>
            <a:pPr>
              <a:spcBef>
                <a:spcPts val="0"/>
              </a:spcBef>
              <a:buFont typeface="Arial" panose="020B0604020202020204" pitchFamily="34" charset="0"/>
              <a:buNone/>
            </a:pPr>
            <a:r>
              <a:rPr lang="en-US" altLang="en-US" sz="2000" dirty="0">
                <a:latin typeface="Consolas" panose="020B0609020204030204" pitchFamily="49" charset="0"/>
              </a:rPr>
              <a:t>		</a:t>
            </a:r>
            <a:r>
              <a:rPr lang="en-US" altLang="en-US" sz="2000" dirty="0" err="1">
                <a:latin typeface="Consolas" panose="020B0609020204030204" pitchFamily="49" charset="0"/>
              </a:rPr>
              <a:t>app.use</a:t>
            </a:r>
            <a:r>
              <a:rPr lang="en-US" altLang="en-US" sz="2000" dirty="0">
                <a:latin typeface="Consolas" panose="020B0609020204030204" pitchFamily="49" charset="0"/>
              </a:rPr>
              <a:t>(</a:t>
            </a:r>
            <a:r>
              <a:rPr lang="en-US" altLang="en-US" sz="2000" dirty="0" err="1">
                <a:latin typeface="Consolas" panose="020B0609020204030204" pitchFamily="49" charset="0"/>
              </a:rPr>
              <a:t>express.static</a:t>
            </a:r>
            <a:r>
              <a:rPr lang="en-US" altLang="en-US" sz="2000" dirty="0">
                <a:latin typeface="Consolas" panose="020B0609020204030204" pitchFamily="49" charset="0"/>
              </a:rPr>
              <a:t>('files'));</a:t>
            </a:r>
          </a:p>
          <a:p>
            <a:pPr>
              <a:buFont typeface="Arial" panose="020B0604020202020204" pitchFamily="34" charset="0"/>
              <a:buNone/>
            </a:pPr>
            <a:endParaRPr lang="en-US" altLang="en-US" sz="2800" dirty="0"/>
          </a:p>
          <a:p>
            <a:endParaRPr lang="en-US" dirty="0"/>
          </a:p>
        </p:txBody>
      </p:sp>
    </p:spTree>
    <p:extLst>
      <p:ext uri="{BB962C8B-B14F-4D97-AF65-F5344CB8AC3E}">
        <p14:creationId xmlns:p14="http://schemas.microsoft.com/office/powerpoint/2010/main" val="136742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Serving Static files in Express (Cont.)</a:t>
            </a:r>
            <a:endParaRPr lang="en-US" dirty="0"/>
          </a:p>
        </p:txBody>
      </p:sp>
      <p:sp>
        <p:nvSpPr>
          <p:cNvPr id="3" name="Content Placeholder 2"/>
          <p:cNvSpPr>
            <a:spLocks noGrp="1"/>
          </p:cNvSpPr>
          <p:nvPr>
            <p:ph idx="1"/>
          </p:nvPr>
        </p:nvSpPr>
        <p:spPr/>
        <p:txBody>
          <a:bodyPr/>
          <a:lstStyle/>
          <a:p>
            <a:r>
              <a:rPr lang="en-US" altLang="en-US" dirty="0"/>
              <a:t>Express looks up the files in the order in which you set the static directories with the express.static middleware function.</a:t>
            </a:r>
          </a:p>
          <a:p>
            <a:r>
              <a:rPr lang="en-US" altLang="en-US" dirty="0"/>
              <a:t>To create a virtual path prefix (where the path does not actually exist in the file system) for files that are served by the express.static function,specify a mount path for the static directory, as shown below:</a:t>
            </a:r>
          </a:p>
          <a:p>
            <a:pPr>
              <a:buFont typeface="Arial" panose="020B0604020202020204" pitchFamily="34" charset="0"/>
              <a:buNone/>
            </a:pPr>
            <a:r>
              <a:rPr lang="en-US" altLang="en-US" dirty="0"/>
              <a:t>		</a:t>
            </a:r>
            <a:r>
              <a:rPr lang="en-US" altLang="en-US" sz="2000" dirty="0">
                <a:latin typeface="Consolas" panose="020B0609020204030204" pitchFamily="49" charset="0"/>
              </a:rPr>
              <a:t>app.use('/static', express.static('public'));</a:t>
            </a:r>
          </a:p>
          <a:p>
            <a:r>
              <a:rPr lang="en-US" altLang="en-US" dirty="0"/>
              <a:t>Now, you can load the files that are in the public directory from the /static path prefix.</a:t>
            </a:r>
          </a:p>
          <a:p>
            <a:pPr>
              <a:lnSpc>
                <a:spcPct val="100000"/>
              </a:lnSpc>
              <a:spcBef>
                <a:spcPts val="0"/>
              </a:spcBef>
              <a:buFont typeface="Arial" panose="020B0604020202020204" pitchFamily="34" charset="0"/>
              <a:buNone/>
            </a:pPr>
            <a:r>
              <a:rPr lang="en-US" altLang="en-US" dirty="0"/>
              <a:t>		</a:t>
            </a:r>
            <a:r>
              <a:rPr lang="en-US" altLang="en-US" sz="2000" dirty="0">
                <a:latin typeface="Consolas" panose="020B0609020204030204" pitchFamily="49" charset="0"/>
              </a:rPr>
              <a:t>http://localhost:3000/static/images/kitten.jpg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http://localhost:3000/static/css/style.css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http://localhost:3000/static/js/app.js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http://localhost:3000/static/images/bg.png </a:t>
            </a:r>
          </a:p>
          <a:p>
            <a:pPr>
              <a:lnSpc>
                <a:spcPct val="100000"/>
              </a:lnSpc>
              <a:spcBef>
                <a:spcPts val="0"/>
              </a:spcBef>
              <a:buFont typeface="Arial" panose="020B0604020202020204" pitchFamily="34" charset="0"/>
              <a:buNone/>
            </a:pPr>
            <a:r>
              <a:rPr lang="en-US" altLang="en-US" sz="2000" dirty="0">
                <a:latin typeface="Consolas" panose="020B0609020204030204" pitchFamily="49" charset="0"/>
              </a:rPr>
              <a:t>		http://localhost:3000/static/hello.html</a:t>
            </a:r>
          </a:p>
          <a:p>
            <a:r>
              <a:rPr lang="en-US" altLang="en-US" dirty="0"/>
              <a:t>However, the path that you provide to the express.static function is relative to the directory from where you launch your node process. If you run the express app from another directory, it’s safer to use the absolute path of the directory that you want to serve:</a:t>
            </a:r>
          </a:p>
          <a:p>
            <a:pPr>
              <a:spcBef>
                <a:spcPts val="0"/>
              </a:spcBef>
              <a:buFont typeface="Arial" panose="020B0604020202020204" pitchFamily="34" charset="0"/>
              <a:buNone/>
            </a:pPr>
            <a:r>
              <a:rPr lang="en-US" altLang="en-US" dirty="0"/>
              <a:t>		</a:t>
            </a:r>
            <a:r>
              <a:rPr lang="en-US" altLang="en-US" sz="2000" dirty="0">
                <a:latin typeface="Consolas" panose="020B0609020204030204" pitchFamily="49" charset="0"/>
              </a:rPr>
              <a:t>app.use('/static', express.static(__</a:t>
            </a:r>
            <a:r>
              <a:rPr lang="en-US" altLang="en-US" sz="2000" dirty="0" err="1">
                <a:latin typeface="Consolas" panose="020B0609020204030204" pitchFamily="49" charset="0"/>
              </a:rPr>
              <a:t>dirname</a:t>
            </a:r>
            <a:r>
              <a:rPr lang="en-US" altLang="en-US" sz="2000" dirty="0">
                <a:latin typeface="Consolas" panose="020B0609020204030204" pitchFamily="49" charset="0"/>
              </a:rPr>
              <a:t> + '/public'));</a:t>
            </a:r>
          </a:p>
          <a:p>
            <a:endParaRPr lang="en-US" altLang="en-US" dirty="0"/>
          </a:p>
          <a:p>
            <a:endParaRPr lang="en-US" dirty="0"/>
          </a:p>
        </p:txBody>
      </p:sp>
    </p:spTree>
    <p:extLst>
      <p:ext uri="{BB962C8B-B14F-4D97-AF65-F5344CB8AC3E}">
        <p14:creationId xmlns:p14="http://schemas.microsoft.com/office/powerpoint/2010/main" val="204268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REST API using Node, Express and MongoDB</a:t>
            </a:r>
          </a:p>
        </p:txBody>
      </p:sp>
      <p:sp>
        <p:nvSpPr>
          <p:cNvPr id="3" name="Content Placeholder 2"/>
          <p:cNvSpPr>
            <a:spLocks noGrp="1"/>
          </p:cNvSpPr>
          <p:nvPr>
            <p:ph idx="1"/>
          </p:nvPr>
        </p:nvSpPr>
        <p:spPr/>
        <p:txBody>
          <a:bodyPr/>
          <a:lstStyle/>
          <a:p>
            <a:r>
              <a:rPr lang="en-US" dirty="0"/>
              <a:t>We are going to use mongoose package to connect with the </a:t>
            </a:r>
            <a:r>
              <a:rPr lang="en-US" dirty="0" err="1"/>
              <a:t>mongoDB</a:t>
            </a:r>
            <a:r>
              <a:rPr lang="en-US" dirty="0"/>
              <a:t> database.</a:t>
            </a:r>
          </a:p>
          <a:p>
            <a:r>
              <a:rPr lang="en-US" dirty="0"/>
              <a:t>To install mongoose we need to install it using below command,</a:t>
            </a:r>
          </a:p>
          <a:p>
            <a:endParaRPr lang="en-US" dirty="0"/>
          </a:p>
          <a:p>
            <a:r>
              <a:rPr lang="en-US" dirty="0"/>
              <a:t>We first need to create a Mongoose Schema,</a:t>
            </a:r>
          </a:p>
          <a:p>
            <a:endParaRPr lang="en-US" dirty="0"/>
          </a:p>
          <a:p>
            <a:endParaRPr lang="en-US" dirty="0"/>
          </a:p>
          <a:p>
            <a:endParaRPr lang="en-US" dirty="0"/>
          </a:p>
          <a:p>
            <a:endParaRPr lang="en-US" dirty="0"/>
          </a:p>
          <a:p>
            <a:endParaRPr lang="en-US" dirty="0"/>
          </a:p>
          <a:p>
            <a:endParaRPr lang="en-US" dirty="0"/>
          </a:p>
          <a:p>
            <a:r>
              <a:rPr lang="en-US" dirty="0"/>
              <a:t>Here we need to set the schema as per our API fields.</a:t>
            </a:r>
          </a:p>
          <a:p>
            <a:r>
              <a:rPr lang="en-US" dirty="0"/>
              <a:t>Next we will connect with the </a:t>
            </a:r>
            <a:r>
              <a:rPr lang="en-US" dirty="0" err="1"/>
              <a:t>mongoDB</a:t>
            </a:r>
            <a:r>
              <a:rPr lang="en-US" dirty="0"/>
              <a:t> and create REST API.</a:t>
            </a:r>
          </a:p>
        </p:txBody>
      </p:sp>
      <p:sp>
        <p:nvSpPr>
          <p:cNvPr id="4" name="Rectangle 3">
            <a:extLst>
              <a:ext uri="{FF2B5EF4-FFF2-40B4-BE49-F238E27FC236}">
                <a16:creationId xmlns:a16="http://schemas.microsoft.com/office/drawing/2014/main" id="{D456EBDA-49A4-A843-A786-6989C63A54AA}"/>
              </a:ext>
            </a:extLst>
          </p:cNvPr>
          <p:cNvSpPr/>
          <p:nvPr/>
        </p:nvSpPr>
        <p:spPr>
          <a:xfrm>
            <a:off x="1019306" y="2938087"/>
            <a:ext cx="9323765" cy="2308324"/>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mongoose</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'mongoose'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schema</a:t>
            </a:r>
            <a:r>
              <a:rPr lang="en-US" sz="1600" dirty="0">
                <a:solidFill>
                  <a:srgbClr val="000000"/>
                </a:solidFill>
                <a:latin typeface="Consolas" panose="020B0609020204030204" pitchFamily="49" charset="0"/>
              </a:rPr>
              <a:t> = </a:t>
            </a:r>
            <a:r>
              <a:rPr lang="en-US" sz="1600" dirty="0" err="1">
                <a:solidFill>
                  <a:srgbClr val="001080"/>
                </a:solidFill>
                <a:latin typeface="Consolas" panose="020B0609020204030204" pitchFamily="49" charset="0"/>
              </a:rPr>
              <a:t>mongoose</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Schema</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FacultyID</a:t>
            </a:r>
            <a:r>
              <a:rPr lang="en-US" sz="1600" dirty="0">
                <a:solidFill>
                  <a:srgbClr val="001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Number</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FacultyName</a:t>
            </a:r>
            <a:r>
              <a:rPr lang="en-US" sz="1600" dirty="0">
                <a:solidFill>
                  <a:srgbClr val="001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String</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FacultyInitial</a:t>
            </a:r>
            <a:r>
              <a:rPr lang="en-US" sz="1600" dirty="0">
                <a:solidFill>
                  <a:srgbClr val="001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String</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err="1">
                <a:solidFill>
                  <a:srgbClr val="267F99"/>
                </a:solidFill>
                <a:latin typeface="Consolas" panose="020B0609020204030204" pitchFamily="49" charset="0"/>
              </a:rPr>
              <a:t>module</a:t>
            </a:r>
            <a:r>
              <a:rPr lang="en-US" sz="1600" dirty="0" err="1">
                <a:solidFill>
                  <a:srgbClr val="000000"/>
                </a:solidFill>
                <a:latin typeface="Consolas" panose="020B0609020204030204" pitchFamily="49" charset="0"/>
              </a:rPr>
              <a:t>.</a:t>
            </a:r>
            <a:r>
              <a:rPr lang="en-US" sz="1600" dirty="0" err="1">
                <a:solidFill>
                  <a:srgbClr val="267F99"/>
                </a:solidFill>
                <a:latin typeface="Consolas" panose="020B0609020204030204" pitchFamily="49" charset="0"/>
              </a:rPr>
              <a:t>exports</a:t>
            </a:r>
            <a:r>
              <a:rPr lang="en-US" sz="1600" dirty="0">
                <a:solidFill>
                  <a:srgbClr val="000000"/>
                </a:solidFill>
                <a:latin typeface="Consolas" panose="020B0609020204030204" pitchFamily="49" charset="0"/>
              </a:rPr>
              <a:t> = </a:t>
            </a:r>
            <a:r>
              <a:rPr lang="en-US" sz="1600" dirty="0" err="1">
                <a:solidFill>
                  <a:srgbClr val="001080"/>
                </a:solidFill>
                <a:latin typeface="Consolas" panose="020B0609020204030204" pitchFamily="49" charset="0"/>
              </a:rPr>
              <a:t>mongoose</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model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schema</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19313" y="2938087"/>
            <a:ext cx="499993" cy="230832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19312" y="2608903"/>
            <a:ext cx="231015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models/Faculty.js</a:t>
            </a:r>
          </a:p>
        </p:txBody>
      </p:sp>
      <p:sp>
        <p:nvSpPr>
          <p:cNvPr id="8" name="Rectangle 7">
            <a:extLst>
              <a:ext uri="{FF2B5EF4-FFF2-40B4-BE49-F238E27FC236}">
                <a16:creationId xmlns:a16="http://schemas.microsoft.com/office/drawing/2014/main" id="{D456EBDA-49A4-A843-A786-6989C63A54AA}"/>
              </a:ext>
            </a:extLst>
          </p:cNvPr>
          <p:cNvSpPr/>
          <p:nvPr/>
        </p:nvSpPr>
        <p:spPr>
          <a:xfrm>
            <a:off x="519312" y="1730489"/>
            <a:ext cx="5253475" cy="338554"/>
          </a:xfrm>
          <a:prstGeom prst="rect">
            <a:avLst/>
          </a:prstGeom>
          <a:solidFill>
            <a:schemeClr val="tx1"/>
          </a:solidFill>
          <a:ln>
            <a:noFill/>
          </a:ln>
        </p:spPr>
        <p:txBody>
          <a:bodyPr wrap="square">
            <a:spAutoFit/>
          </a:bodyPr>
          <a:lstStyle/>
          <a:p>
            <a:r>
              <a:rPr lang="en-US" sz="1600" b="1" dirty="0" err="1">
                <a:solidFill>
                  <a:schemeClr val="bg1"/>
                </a:solidFill>
                <a:latin typeface="Consolas" panose="020B0609020204030204" pitchFamily="49" charset="0"/>
              </a:rPr>
              <a:t>npm</a:t>
            </a:r>
            <a:r>
              <a:rPr lang="en-US" sz="1600" b="1" dirty="0">
                <a:solidFill>
                  <a:schemeClr val="bg1"/>
                </a:solidFill>
                <a:latin typeface="Consolas" panose="020B0609020204030204" pitchFamily="49" charset="0"/>
              </a:rPr>
              <a:t> install mongoose</a:t>
            </a:r>
            <a:endParaRPr lang="en-US" sz="1600" b="1" dirty="0">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412137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bg/>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8" grpId="0" uiExpand="1" build="p"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API (Cont.)</a:t>
            </a:r>
          </a:p>
        </p:txBody>
      </p:sp>
      <p:sp>
        <p:nvSpPr>
          <p:cNvPr id="4" name="Rectangle 3">
            <a:extLst>
              <a:ext uri="{FF2B5EF4-FFF2-40B4-BE49-F238E27FC236}">
                <a16:creationId xmlns:a16="http://schemas.microsoft.com/office/drawing/2014/main" id="{D456EBDA-49A4-A843-A786-6989C63A54AA}"/>
              </a:ext>
            </a:extLst>
          </p:cNvPr>
          <p:cNvSpPr/>
          <p:nvPr/>
        </p:nvSpPr>
        <p:spPr>
          <a:xfrm>
            <a:off x="579359" y="1124440"/>
            <a:ext cx="9987999" cy="501675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express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"express"</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mongoose</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"mongoose"</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bodyParser</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"body-parser"</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Faculty</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'./models/Faculty.js'</a:t>
            </a:r>
            <a:r>
              <a:rPr lang="en-US" sz="1600" dirty="0">
                <a:solidFill>
                  <a:srgbClr val="000000"/>
                </a:solidFill>
                <a:latin typeface="Consolas" panose="020B0609020204030204" pitchFamily="49" charset="0"/>
              </a:rPr>
              <a:t>);</a:t>
            </a:r>
          </a:p>
          <a:p>
            <a:endParaRPr lang="en-US" sz="1600" b="0" dirty="0">
              <a:solidFill>
                <a:srgbClr val="000000"/>
              </a:solidFill>
              <a:effectLst/>
              <a:latin typeface="Consolas" panose="020B0609020204030204" pitchFamily="49" charset="0"/>
            </a:endParaRPr>
          </a:p>
          <a:p>
            <a:r>
              <a:rPr lang="en-US" sz="1600" dirty="0">
                <a:solidFill>
                  <a:srgbClr val="008000"/>
                </a:solidFill>
                <a:latin typeface="Consolas" panose="020B0609020204030204" pitchFamily="49" charset="0"/>
              </a:rPr>
              <a:t>// Connect to MongoDB database</a:t>
            </a:r>
            <a:endParaRPr lang="en-US" sz="1600" dirty="0">
              <a:solidFill>
                <a:srgbClr val="000000"/>
              </a:solidFill>
              <a:latin typeface="Consolas" panose="020B0609020204030204" pitchFamily="49" charset="0"/>
            </a:endParaRPr>
          </a:p>
          <a:p>
            <a:r>
              <a:rPr lang="en-US" sz="1600" dirty="0">
                <a:solidFill>
                  <a:srgbClr val="267F99"/>
                </a:solidFill>
                <a:latin typeface="Consolas" panose="020B0609020204030204" pitchFamily="49" charset="0"/>
              </a:rPr>
              <a:t>mongoose</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connect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"MongoDB Connection URL Here"</a:t>
            </a:r>
            <a:r>
              <a:rPr lang="en-US" sz="1600" dirty="0">
                <a:solidFill>
                  <a:srgbClr val="000000"/>
                </a:solidFill>
                <a:latin typeface="Consolas" panose="020B0609020204030204" pitchFamily="49" charset="0"/>
              </a:rPr>
              <a:t>, { </a:t>
            </a:r>
            <a:r>
              <a:rPr lang="en-US" sz="1600" dirty="0" err="1">
                <a:solidFill>
                  <a:srgbClr val="001080"/>
                </a:solidFill>
                <a:latin typeface="Consolas" panose="020B0609020204030204" pitchFamily="49" charset="0"/>
              </a:rPr>
              <a:t>useNewUrlParser</a:t>
            </a:r>
            <a:r>
              <a:rPr lang="en-US" sz="1600" dirty="0">
                <a:solidFill>
                  <a:srgbClr val="001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true</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then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FF"/>
                </a:solidFill>
                <a:latin typeface="Consolas" panose="020B0609020204030204" pitchFamily="49" charset="0"/>
              </a:rPr>
              <a:t>	</a:t>
            </a:r>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app</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express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app</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use</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bodyParser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urlencoded</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extended: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false</a:t>
            </a:r>
            <a:r>
              <a:rPr lang="en-US" sz="1600" dirty="0">
                <a:solidFill>
                  <a:srgbClr val="000000"/>
                </a:solidFill>
                <a:latin typeface="Consolas" panose="020B0609020204030204" pitchFamily="49" charset="0"/>
              </a:rPr>
              <a:t> }))</a:t>
            </a:r>
          </a:p>
          <a:p>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We will write code for all the routes &amp; code here</a:t>
            </a:r>
          </a:p>
          <a:p>
            <a:r>
              <a:rPr lang="en-US" sz="1600" dirty="0">
                <a:solidFill>
                  <a:srgbClr val="008000"/>
                </a:solidFill>
                <a:latin typeface="Consolas" panose="020B0609020204030204" pitchFamily="49" charset="0"/>
              </a:rPr>
              <a:t>	// I will write different routes in different code snippet in following slides</a:t>
            </a:r>
          </a:p>
          <a:p>
            <a:r>
              <a:rPr lang="en-US" sz="1600" dirty="0">
                <a:solidFill>
                  <a:srgbClr val="008000"/>
                </a:solidFill>
                <a:latin typeface="Consolas" panose="020B0609020204030204" pitchFamily="49" charset="0"/>
              </a:rPr>
              <a:t>	// you need to add those snippets here</a:t>
            </a:r>
          </a:p>
          <a:p>
            <a:endParaRPr lang="en-US" sz="1600" dirty="0">
              <a:solidFill>
                <a:srgbClr val="000000"/>
              </a:solidFill>
              <a:latin typeface="Consolas" panose="020B0609020204030204" pitchFamily="49" charset="0"/>
            </a:endParaRPr>
          </a:p>
          <a:p>
            <a:r>
              <a:rPr lang="en-US" sz="1600" dirty="0">
                <a:solidFill>
                  <a:srgbClr val="0070C1"/>
                </a:solidFill>
                <a:latin typeface="Consolas" panose="020B0609020204030204" pitchFamily="49" charset="0"/>
              </a:rPr>
              <a:t>	</a:t>
            </a:r>
            <a:r>
              <a:rPr lang="en-US" sz="1600" dirty="0" err="1">
                <a:solidFill>
                  <a:srgbClr val="0070C1"/>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listen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3000</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"Server has started!"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79366" y="1124440"/>
            <a:ext cx="499993" cy="501675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a:p>
            <a:pPr algn="r"/>
            <a:r>
              <a:rPr lang="en-US" sz="1600" b="1" dirty="0">
                <a:solidFill>
                  <a:schemeClr val="tx1">
                    <a:lumMod val="75000"/>
                    <a:lumOff val="25000"/>
                  </a:schemeClr>
                </a:solidFill>
                <a:latin typeface="Consolas" panose="020B0609020204030204" pitchFamily="49" charset="0"/>
              </a:rPr>
              <a:t>12</a:t>
            </a:r>
          </a:p>
          <a:p>
            <a:pPr algn="r"/>
            <a:r>
              <a:rPr lang="en-US" sz="1600" b="1" dirty="0">
                <a:solidFill>
                  <a:schemeClr val="tx1">
                    <a:lumMod val="75000"/>
                    <a:lumOff val="25000"/>
                  </a:schemeClr>
                </a:solidFill>
                <a:latin typeface="Consolas" panose="020B0609020204030204" pitchFamily="49" charset="0"/>
              </a:rPr>
              <a:t>13</a:t>
            </a:r>
          </a:p>
          <a:p>
            <a:pPr algn="r"/>
            <a:r>
              <a:rPr lang="en-US" sz="1600" b="1" dirty="0">
                <a:solidFill>
                  <a:schemeClr val="tx1">
                    <a:lumMod val="75000"/>
                    <a:lumOff val="25000"/>
                  </a:schemeClr>
                </a:solidFill>
                <a:latin typeface="Consolas" panose="020B0609020204030204" pitchFamily="49" charset="0"/>
              </a:rPr>
              <a:t>14</a:t>
            </a:r>
          </a:p>
          <a:p>
            <a:pPr algn="r"/>
            <a:r>
              <a:rPr lang="en-US" sz="1600" b="1" dirty="0">
                <a:solidFill>
                  <a:schemeClr val="tx1">
                    <a:lumMod val="75000"/>
                    <a:lumOff val="25000"/>
                  </a:schemeClr>
                </a:solidFill>
                <a:latin typeface="Consolas" panose="020B0609020204030204" pitchFamily="49" charset="0"/>
              </a:rPr>
              <a:t>15</a:t>
            </a:r>
          </a:p>
          <a:p>
            <a:pPr algn="r"/>
            <a:r>
              <a:rPr lang="en-US" sz="1600" b="1" dirty="0">
                <a:solidFill>
                  <a:schemeClr val="tx1">
                    <a:lumMod val="75000"/>
                    <a:lumOff val="25000"/>
                  </a:schemeClr>
                </a:solidFill>
                <a:latin typeface="Consolas" panose="020B0609020204030204" pitchFamily="49" charset="0"/>
              </a:rPr>
              <a:t>16</a:t>
            </a:r>
          </a:p>
          <a:p>
            <a:pPr algn="r"/>
            <a:r>
              <a:rPr lang="en-US" sz="1600" b="1" dirty="0">
                <a:solidFill>
                  <a:schemeClr val="tx1">
                    <a:lumMod val="75000"/>
                    <a:lumOff val="25000"/>
                  </a:schemeClr>
                </a:solidFill>
                <a:latin typeface="Consolas" panose="020B0609020204030204" pitchFamily="49" charset="0"/>
              </a:rPr>
              <a:t>17</a:t>
            </a:r>
          </a:p>
          <a:p>
            <a:pPr algn="r"/>
            <a:r>
              <a:rPr lang="en-US" sz="1600" b="1" dirty="0">
                <a:solidFill>
                  <a:schemeClr val="tx1">
                    <a:lumMod val="75000"/>
                    <a:lumOff val="25000"/>
                  </a:schemeClr>
                </a:solidFill>
                <a:latin typeface="Consolas" panose="020B0609020204030204" pitchFamily="49" charset="0"/>
              </a:rPr>
              <a:t>18</a:t>
            </a:r>
          </a:p>
          <a:p>
            <a:pPr algn="r"/>
            <a:r>
              <a:rPr lang="en-US" sz="1600" b="1" dirty="0">
                <a:solidFill>
                  <a:schemeClr val="tx1">
                    <a:lumMod val="75000"/>
                    <a:lumOff val="25000"/>
                  </a:schemeClr>
                </a:solidFill>
                <a:latin typeface="Consolas" panose="020B0609020204030204" pitchFamily="49" charset="0"/>
              </a:rPr>
              <a:t>19</a:t>
            </a:r>
          </a:p>
          <a:p>
            <a:pPr algn="r"/>
            <a:r>
              <a:rPr lang="en-US" sz="1600" b="1" dirty="0">
                <a:solidFill>
                  <a:schemeClr val="tx1">
                    <a:lumMod val="75000"/>
                    <a:lumOff val="25000"/>
                  </a:schemeClr>
                </a:solidFill>
                <a:latin typeface="Consolas" panose="020B0609020204030204" pitchFamily="49" charset="0"/>
              </a:rPr>
              <a:t>20</a:t>
            </a:r>
          </a:p>
        </p:txBody>
      </p:sp>
      <p:sp>
        <p:nvSpPr>
          <p:cNvPr id="7" name="Rectangle: Top Corners Rounded 6">
            <a:extLst>
              <a:ext uri="{FF2B5EF4-FFF2-40B4-BE49-F238E27FC236}">
                <a16:creationId xmlns:a16="http://schemas.microsoft.com/office/drawing/2014/main" id="{0336C271-A2A3-9445-9946-5006F0A250F4}"/>
              </a:ext>
            </a:extLst>
          </p:cNvPr>
          <p:cNvSpPr/>
          <p:nvPr/>
        </p:nvSpPr>
        <p:spPr>
          <a:xfrm>
            <a:off x="79365" y="795256"/>
            <a:ext cx="198234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Faculty.js</a:t>
            </a:r>
          </a:p>
        </p:txBody>
      </p:sp>
    </p:spTree>
    <p:extLst>
      <p:ext uri="{BB962C8B-B14F-4D97-AF65-F5344CB8AC3E}">
        <p14:creationId xmlns:p14="http://schemas.microsoft.com/office/powerpoint/2010/main" val="3840194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9" end="19"/>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API (Cont.) (</a:t>
            </a:r>
            <a:r>
              <a:rPr lang="en-US" dirty="0" err="1"/>
              <a:t>getAll</a:t>
            </a:r>
            <a:r>
              <a:rPr lang="en-US" dirty="0"/>
              <a:t>, </a:t>
            </a:r>
            <a:r>
              <a:rPr lang="en-US" dirty="0" err="1"/>
              <a:t>getByID</a:t>
            </a:r>
            <a:r>
              <a:rPr lang="en-US" dirty="0"/>
              <a:t> and insert)</a:t>
            </a:r>
          </a:p>
        </p:txBody>
      </p:sp>
      <p:sp>
        <p:nvSpPr>
          <p:cNvPr id="4" name="Rectangle 3">
            <a:extLst>
              <a:ext uri="{FF2B5EF4-FFF2-40B4-BE49-F238E27FC236}">
                <a16:creationId xmlns:a16="http://schemas.microsoft.com/office/drawing/2014/main" id="{D456EBDA-49A4-A843-A786-6989C63A54AA}"/>
              </a:ext>
            </a:extLst>
          </p:cNvPr>
          <p:cNvSpPr/>
          <p:nvPr/>
        </p:nvSpPr>
        <p:spPr>
          <a:xfrm>
            <a:off x="579359" y="891527"/>
            <a:ext cx="9987999" cy="5509200"/>
          </a:xfrm>
          <a:prstGeom prst="rect">
            <a:avLst/>
          </a:prstGeom>
          <a:solidFill>
            <a:schemeClr val="bg1">
              <a:lumMod val="95000"/>
            </a:schemeClr>
          </a:solidFill>
          <a:ln>
            <a:noFill/>
          </a:ln>
        </p:spPr>
        <p:txBody>
          <a:bodyPr wrap="square">
            <a:spAutoFit/>
          </a:bodyPr>
          <a:lstStyle/>
          <a:p>
            <a:r>
              <a:rPr lang="en-US" sz="1600" dirty="0">
                <a:solidFill>
                  <a:srgbClr val="008000"/>
                </a:solidFill>
                <a:latin typeface="Consolas" panose="020B0609020204030204" pitchFamily="49" charset="0"/>
              </a:rPr>
              <a:t>// get all faculties</a:t>
            </a:r>
            <a:endParaRPr lang="en-US" sz="1600" dirty="0">
              <a:solidFill>
                <a:srgbClr val="0070C1"/>
              </a:solidFill>
              <a:latin typeface="Consolas" panose="020B0609020204030204" pitchFamily="49" charset="0"/>
            </a:endParaRPr>
          </a:p>
          <a:p>
            <a:r>
              <a:rPr lang="en-US" sz="1600" dirty="0" err="1">
                <a:solidFill>
                  <a:srgbClr val="0070C1"/>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get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'/faculties'</a:t>
            </a:r>
            <a:r>
              <a:rPr lang="en-US" sz="1600" dirty="0">
                <a:solidFill>
                  <a:srgbClr val="000000"/>
                </a:solidFill>
                <a:latin typeface="Consolas" panose="020B0609020204030204" pitchFamily="49" charset="0"/>
              </a:rPr>
              <a:t>,</a:t>
            </a:r>
            <a:r>
              <a:rPr lang="en-US" sz="1600" dirty="0" err="1">
                <a:solidFill>
                  <a:srgbClr val="0000FF"/>
                </a:solidFill>
                <a:latin typeface="Consolas" panose="020B0609020204030204" pitchFamily="49" charset="0"/>
              </a:rPr>
              <a:t>async</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faculties</a:t>
            </a:r>
            <a:r>
              <a:rPr lang="en-US" sz="1600" dirty="0">
                <a:solidFill>
                  <a:srgbClr val="000000"/>
                </a:solidFill>
                <a:latin typeface="Consolas" panose="020B0609020204030204" pitchFamily="49" charset="0"/>
              </a:rPr>
              <a:t> = </a:t>
            </a:r>
            <a:r>
              <a:rPr lang="en-US" sz="1600" dirty="0">
                <a:solidFill>
                  <a:srgbClr val="AF00DB"/>
                </a:solidFill>
                <a:latin typeface="Consolas" panose="020B0609020204030204" pitchFamily="49" charset="0"/>
              </a:rPr>
              <a:t>await</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find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faculties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a:solidFill>
                  <a:srgbClr val="008000"/>
                </a:solidFill>
                <a:latin typeface="Consolas" panose="020B0609020204030204" pitchFamily="49" charset="0"/>
              </a:rPr>
              <a:t>// get faculties by id</a:t>
            </a:r>
            <a:endParaRPr lang="en-US" sz="1600" dirty="0">
              <a:solidFill>
                <a:srgbClr val="000000"/>
              </a:solidFill>
              <a:latin typeface="Consolas" panose="020B0609020204030204" pitchFamily="49" charset="0"/>
            </a:endParaRPr>
          </a:p>
          <a:p>
            <a:r>
              <a:rPr lang="en-US" sz="1600" dirty="0" err="1">
                <a:solidFill>
                  <a:srgbClr val="0070C1"/>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get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'/faculties/:id'</a:t>
            </a:r>
            <a:r>
              <a:rPr lang="en-US" sz="1600" dirty="0">
                <a:solidFill>
                  <a:srgbClr val="000000"/>
                </a:solidFill>
                <a:latin typeface="Consolas" panose="020B0609020204030204" pitchFamily="49" charset="0"/>
              </a:rPr>
              <a:t>,</a:t>
            </a:r>
            <a:r>
              <a:rPr lang="en-US" sz="1600" dirty="0" err="1">
                <a:solidFill>
                  <a:srgbClr val="0000FF"/>
                </a:solidFill>
                <a:latin typeface="Consolas" panose="020B0609020204030204" pitchFamily="49" charset="0"/>
              </a:rPr>
              <a:t>async</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faculties</a:t>
            </a:r>
            <a:r>
              <a:rPr lang="en-US" sz="1600" dirty="0">
                <a:solidFill>
                  <a:srgbClr val="000000"/>
                </a:solidFill>
                <a:latin typeface="Consolas" panose="020B0609020204030204" pitchFamily="49" charset="0"/>
              </a:rPr>
              <a:t> = </a:t>
            </a:r>
            <a:r>
              <a:rPr lang="en-US" sz="1600" dirty="0">
                <a:solidFill>
                  <a:srgbClr val="AF00DB"/>
                </a:solidFill>
                <a:latin typeface="Consolas" panose="020B0609020204030204" pitchFamily="49" charset="0"/>
              </a:rPr>
              <a:t>await</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findOne</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FacultyID:req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params</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id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faculties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endParaRPr lang="en-US" sz="1600" b="0" dirty="0">
              <a:solidFill>
                <a:srgbClr val="000000"/>
              </a:solidFill>
              <a:effectLst/>
              <a:latin typeface="Consolas" panose="020B0609020204030204" pitchFamily="49" charset="0"/>
            </a:endParaRPr>
          </a:p>
          <a:p>
            <a:r>
              <a:rPr lang="en-US" sz="1600" dirty="0">
                <a:solidFill>
                  <a:srgbClr val="008000"/>
                </a:solidFill>
                <a:latin typeface="Consolas" panose="020B0609020204030204" pitchFamily="49" charset="0"/>
              </a:rPr>
              <a:t>// add/insert new faculty</a:t>
            </a:r>
            <a:endParaRPr lang="en-US" sz="1600" dirty="0">
              <a:solidFill>
                <a:srgbClr val="0070C1"/>
              </a:solidFill>
              <a:latin typeface="Consolas" panose="020B0609020204030204" pitchFamily="49" charset="0"/>
            </a:endParaRPr>
          </a:p>
          <a:p>
            <a:r>
              <a:rPr lang="en-US" sz="1600" dirty="0" err="1">
                <a:solidFill>
                  <a:srgbClr val="0070C1"/>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post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'/faculties'</a:t>
            </a:r>
            <a:r>
              <a:rPr lang="en-US" sz="1600" dirty="0">
                <a:solidFill>
                  <a:srgbClr val="000000"/>
                </a:solidFill>
                <a:latin typeface="Consolas" panose="020B0609020204030204" pitchFamily="49" charset="0"/>
              </a:rPr>
              <a:t>,</a:t>
            </a:r>
            <a:r>
              <a:rPr lang="en-US" sz="1600" dirty="0" err="1">
                <a:solidFill>
                  <a:srgbClr val="0000FF"/>
                </a:solidFill>
                <a:latin typeface="Consolas" panose="020B0609020204030204" pitchFamily="49" charset="0"/>
              </a:rPr>
              <a:t>async</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faculty</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Faculty</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FacultyID</a:t>
            </a:r>
            <a:r>
              <a:rPr lang="en-US" sz="1600" dirty="0">
                <a:solidFill>
                  <a:srgbClr val="001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body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FacultyName</a:t>
            </a:r>
            <a:r>
              <a:rPr lang="en-US" sz="1600" dirty="0">
                <a:solidFill>
                  <a:srgbClr val="001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body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FacultyName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FacultyInitial</a:t>
            </a:r>
            <a:r>
              <a:rPr lang="en-US" sz="1600" dirty="0">
                <a:solidFill>
                  <a:srgbClr val="001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body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FacultyInitial</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await</a:t>
            </a:r>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save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0070C1"/>
                </a:solidFill>
                <a:latin typeface="Consolas" panose="020B0609020204030204" pitchFamily="49" charset="0"/>
              </a:rPr>
              <a:t>faculty</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79366" y="891527"/>
            <a:ext cx="499993" cy="550920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a:p>
            <a:pPr algn="r"/>
            <a:r>
              <a:rPr lang="en-US" sz="1600" b="1" dirty="0">
                <a:solidFill>
                  <a:schemeClr val="tx1">
                    <a:lumMod val="75000"/>
                    <a:lumOff val="25000"/>
                  </a:schemeClr>
                </a:solidFill>
                <a:latin typeface="Consolas" panose="020B0609020204030204" pitchFamily="49" charset="0"/>
              </a:rPr>
              <a:t>12</a:t>
            </a:r>
          </a:p>
          <a:p>
            <a:pPr algn="r"/>
            <a:r>
              <a:rPr lang="en-US" sz="1600" b="1" dirty="0">
                <a:solidFill>
                  <a:schemeClr val="tx1">
                    <a:lumMod val="75000"/>
                    <a:lumOff val="25000"/>
                  </a:schemeClr>
                </a:solidFill>
                <a:latin typeface="Consolas" panose="020B0609020204030204" pitchFamily="49" charset="0"/>
              </a:rPr>
              <a:t>13</a:t>
            </a:r>
          </a:p>
          <a:p>
            <a:pPr algn="r"/>
            <a:r>
              <a:rPr lang="en-US" sz="1600" b="1" dirty="0">
                <a:solidFill>
                  <a:schemeClr val="tx1">
                    <a:lumMod val="75000"/>
                    <a:lumOff val="25000"/>
                  </a:schemeClr>
                </a:solidFill>
                <a:latin typeface="Consolas" panose="020B0609020204030204" pitchFamily="49" charset="0"/>
              </a:rPr>
              <a:t>14</a:t>
            </a:r>
          </a:p>
          <a:p>
            <a:pPr algn="r"/>
            <a:r>
              <a:rPr lang="en-US" sz="1600" b="1" dirty="0">
                <a:solidFill>
                  <a:schemeClr val="tx1">
                    <a:lumMod val="75000"/>
                    <a:lumOff val="25000"/>
                  </a:schemeClr>
                </a:solidFill>
                <a:latin typeface="Consolas" panose="020B0609020204030204" pitchFamily="49" charset="0"/>
              </a:rPr>
              <a:t>15</a:t>
            </a:r>
          </a:p>
          <a:p>
            <a:pPr algn="r"/>
            <a:r>
              <a:rPr lang="en-US" sz="1600" b="1" dirty="0">
                <a:solidFill>
                  <a:schemeClr val="tx1">
                    <a:lumMod val="75000"/>
                    <a:lumOff val="25000"/>
                  </a:schemeClr>
                </a:solidFill>
                <a:latin typeface="Consolas" panose="020B0609020204030204" pitchFamily="49" charset="0"/>
              </a:rPr>
              <a:t>16</a:t>
            </a:r>
          </a:p>
          <a:p>
            <a:pPr algn="r"/>
            <a:r>
              <a:rPr lang="en-US" sz="1600" b="1" dirty="0">
                <a:solidFill>
                  <a:schemeClr val="tx1">
                    <a:lumMod val="75000"/>
                    <a:lumOff val="25000"/>
                  </a:schemeClr>
                </a:solidFill>
                <a:latin typeface="Consolas" panose="020B0609020204030204" pitchFamily="49" charset="0"/>
              </a:rPr>
              <a:t>17</a:t>
            </a:r>
          </a:p>
          <a:p>
            <a:pPr algn="r"/>
            <a:r>
              <a:rPr lang="en-US" sz="1600" b="1" dirty="0">
                <a:solidFill>
                  <a:schemeClr val="tx1">
                    <a:lumMod val="75000"/>
                    <a:lumOff val="25000"/>
                  </a:schemeClr>
                </a:solidFill>
                <a:latin typeface="Consolas" panose="020B0609020204030204" pitchFamily="49" charset="0"/>
              </a:rPr>
              <a:t>18</a:t>
            </a:r>
          </a:p>
          <a:p>
            <a:pPr algn="r"/>
            <a:r>
              <a:rPr lang="en-US" sz="1600" b="1" dirty="0">
                <a:solidFill>
                  <a:schemeClr val="tx1">
                    <a:lumMod val="75000"/>
                    <a:lumOff val="25000"/>
                  </a:schemeClr>
                </a:solidFill>
                <a:latin typeface="Consolas" panose="020B0609020204030204" pitchFamily="49" charset="0"/>
              </a:rPr>
              <a:t>19</a:t>
            </a:r>
          </a:p>
          <a:p>
            <a:pPr algn="r"/>
            <a:r>
              <a:rPr lang="en-US" sz="1600" b="1" dirty="0">
                <a:solidFill>
                  <a:schemeClr val="tx1">
                    <a:lumMod val="75000"/>
                    <a:lumOff val="25000"/>
                  </a:schemeClr>
                </a:solidFill>
                <a:latin typeface="Consolas" panose="020B0609020204030204" pitchFamily="49" charset="0"/>
              </a:rPr>
              <a:t>20</a:t>
            </a:r>
          </a:p>
          <a:p>
            <a:pPr algn="r"/>
            <a:r>
              <a:rPr lang="en-US" sz="1600" b="1" dirty="0">
                <a:solidFill>
                  <a:schemeClr val="tx1">
                    <a:lumMod val="75000"/>
                    <a:lumOff val="25000"/>
                  </a:schemeClr>
                </a:solidFill>
                <a:latin typeface="Consolas" panose="020B0609020204030204" pitchFamily="49" charset="0"/>
              </a:rPr>
              <a:t>21</a:t>
            </a:r>
          </a:p>
          <a:p>
            <a:pPr algn="r"/>
            <a:r>
              <a:rPr lang="en-US" sz="1600" b="1" dirty="0">
                <a:solidFill>
                  <a:schemeClr val="tx1">
                    <a:lumMod val="75000"/>
                    <a:lumOff val="25000"/>
                  </a:schemeClr>
                </a:solidFill>
                <a:latin typeface="Consolas" panose="020B0609020204030204" pitchFamily="49" charset="0"/>
              </a:rPr>
              <a:t>22</a:t>
            </a:r>
          </a:p>
        </p:txBody>
      </p:sp>
    </p:spTree>
    <p:extLst>
      <p:ext uri="{BB962C8B-B14F-4D97-AF65-F5344CB8AC3E}">
        <p14:creationId xmlns:p14="http://schemas.microsoft.com/office/powerpoint/2010/main" val="235323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API (Cont.) (Update by ID)</a:t>
            </a:r>
          </a:p>
        </p:txBody>
      </p:sp>
      <p:sp>
        <p:nvSpPr>
          <p:cNvPr id="4" name="Rectangle 3">
            <a:extLst>
              <a:ext uri="{FF2B5EF4-FFF2-40B4-BE49-F238E27FC236}">
                <a16:creationId xmlns:a16="http://schemas.microsoft.com/office/drawing/2014/main" id="{D456EBDA-49A4-A843-A786-6989C63A54AA}"/>
              </a:ext>
            </a:extLst>
          </p:cNvPr>
          <p:cNvSpPr/>
          <p:nvPr/>
        </p:nvSpPr>
        <p:spPr>
          <a:xfrm>
            <a:off x="579359" y="891527"/>
            <a:ext cx="9987999" cy="4031873"/>
          </a:xfrm>
          <a:prstGeom prst="rect">
            <a:avLst/>
          </a:prstGeom>
          <a:solidFill>
            <a:schemeClr val="bg1">
              <a:lumMod val="95000"/>
            </a:schemeClr>
          </a:solidFill>
          <a:ln>
            <a:noFill/>
          </a:ln>
        </p:spPr>
        <p:txBody>
          <a:bodyPr wrap="square">
            <a:spAutoFit/>
          </a:bodyPr>
          <a:lstStyle/>
          <a:p>
            <a:r>
              <a:rPr lang="en-US" sz="1600" dirty="0">
                <a:solidFill>
                  <a:srgbClr val="008000"/>
                </a:solidFill>
                <a:latin typeface="Consolas" panose="020B0609020204030204" pitchFamily="49" charset="0"/>
              </a:rPr>
              <a:t>// update faculty by id</a:t>
            </a:r>
            <a:endParaRPr lang="en-US" sz="1600" dirty="0">
              <a:solidFill>
                <a:srgbClr val="0070C1"/>
              </a:solidFill>
              <a:latin typeface="Consolas" panose="020B0609020204030204" pitchFamily="49" charset="0"/>
            </a:endParaRPr>
          </a:p>
          <a:p>
            <a:r>
              <a:rPr lang="en-US" sz="1600" dirty="0" err="1">
                <a:solidFill>
                  <a:srgbClr val="0070C1"/>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patch</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'/faculties/:id'</a:t>
            </a:r>
            <a:r>
              <a:rPr lang="en-US" sz="1600" dirty="0">
                <a:solidFill>
                  <a:srgbClr val="000000"/>
                </a:solidFill>
                <a:latin typeface="Consolas" panose="020B0609020204030204" pitchFamily="49" charset="0"/>
              </a:rPr>
              <a:t>,</a:t>
            </a:r>
            <a:r>
              <a:rPr lang="en-US" sz="1600" dirty="0" err="1">
                <a:solidFill>
                  <a:srgbClr val="0000FF"/>
                </a:solidFill>
                <a:latin typeface="Consolas" panose="020B0609020204030204" pitchFamily="49" charset="0"/>
              </a:rPr>
              <a:t>async</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try</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faculty</a:t>
            </a:r>
            <a:r>
              <a:rPr lang="en-US" sz="1600" dirty="0">
                <a:solidFill>
                  <a:srgbClr val="000000"/>
                </a:solidFill>
                <a:latin typeface="Consolas" panose="020B0609020204030204" pitchFamily="49" charset="0"/>
              </a:rPr>
              <a:t> = </a:t>
            </a:r>
            <a:r>
              <a:rPr lang="en-US" sz="1600" dirty="0">
                <a:solidFill>
                  <a:srgbClr val="AF00DB"/>
                </a:solidFill>
                <a:latin typeface="Consolas" panose="020B0609020204030204" pitchFamily="49" charset="0"/>
              </a:rPr>
              <a:t>await</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findOne</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FacultyID:req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params</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id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FacultyID</a:t>
            </a:r>
            <a:r>
              <a:rPr lang="en-US" sz="1600" dirty="0">
                <a:solidFill>
                  <a:srgbClr val="000000"/>
                </a:solidFill>
                <a:latin typeface="Consolas" panose="020B0609020204030204" pitchFamily="49" charset="0"/>
              </a:rPr>
              <a:t> =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body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FacultyName</a:t>
            </a:r>
            <a:r>
              <a:rPr lang="en-US" sz="1600" dirty="0">
                <a:solidFill>
                  <a:srgbClr val="000000"/>
                </a:solidFill>
                <a:latin typeface="Consolas" panose="020B0609020204030204" pitchFamily="49" charset="0"/>
              </a:rPr>
              <a:t> =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body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FacultyName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FacultyInitial</a:t>
            </a:r>
            <a:r>
              <a:rPr lang="en-US" sz="1600" dirty="0">
                <a:solidFill>
                  <a:srgbClr val="000000"/>
                </a:solidFill>
                <a:latin typeface="Consolas" panose="020B0609020204030204" pitchFamily="49" charset="0"/>
              </a:rPr>
              <a:t> =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body</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FacultyInitial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await</a:t>
            </a:r>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save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0070C1"/>
                </a:solidFill>
                <a:latin typeface="Consolas" panose="020B0609020204030204" pitchFamily="49" charset="0"/>
              </a:rPr>
              <a:t>faculty</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 </a:t>
            </a:r>
            <a:r>
              <a:rPr lang="en-US" sz="1600" dirty="0">
                <a:solidFill>
                  <a:srgbClr val="AF00DB"/>
                </a:solidFill>
                <a:latin typeface="Consolas" panose="020B0609020204030204" pitchFamily="49" charset="0"/>
              </a:rPr>
              <a:t>catch</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status</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404</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error:</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"Faculty doesn't exist!"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p:txBody>
      </p:sp>
      <p:sp>
        <p:nvSpPr>
          <p:cNvPr id="5" name="Rectangle 4">
            <a:extLst>
              <a:ext uri="{FF2B5EF4-FFF2-40B4-BE49-F238E27FC236}">
                <a16:creationId xmlns:a16="http://schemas.microsoft.com/office/drawing/2014/main" id="{35F9F4A0-4592-C04D-B2D0-0BF66A3BFA20}"/>
              </a:ext>
            </a:extLst>
          </p:cNvPr>
          <p:cNvSpPr/>
          <p:nvPr/>
        </p:nvSpPr>
        <p:spPr>
          <a:xfrm>
            <a:off x="79366" y="891527"/>
            <a:ext cx="499993" cy="403187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a:p>
            <a:pPr algn="r"/>
            <a:r>
              <a:rPr lang="en-US" sz="1600" b="1" dirty="0">
                <a:solidFill>
                  <a:schemeClr val="tx1">
                    <a:lumMod val="75000"/>
                    <a:lumOff val="25000"/>
                  </a:schemeClr>
                </a:solidFill>
                <a:latin typeface="Consolas" panose="020B0609020204030204" pitchFamily="49" charset="0"/>
              </a:rPr>
              <a:t>12</a:t>
            </a:r>
          </a:p>
          <a:p>
            <a:pPr algn="r"/>
            <a:r>
              <a:rPr lang="en-US" sz="1600" b="1" dirty="0">
                <a:solidFill>
                  <a:schemeClr val="tx1">
                    <a:lumMod val="75000"/>
                    <a:lumOff val="25000"/>
                  </a:schemeClr>
                </a:solidFill>
                <a:latin typeface="Consolas" panose="020B0609020204030204" pitchFamily="49" charset="0"/>
              </a:rPr>
              <a:t>13</a:t>
            </a:r>
          </a:p>
          <a:p>
            <a:pPr algn="r"/>
            <a:r>
              <a:rPr lang="en-US" sz="1600" b="1" dirty="0">
                <a:solidFill>
                  <a:schemeClr val="tx1">
                    <a:lumMod val="75000"/>
                    <a:lumOff val="25000"/>
                  </a:schemeClr>
                </a:solidFill>
                <a:latin typeface="Consolas" panose="020B0609020204030204" pitchFamily="49" charset="0"/>
              </a:rPr>
              <a:t>14</a:t>
            </a:r>
          </a:p>
          <a:p>
            <a:pPr algn="r"/>
            <a:r>
              <a:rPr lang="en-US" sz="1600" b="1" dirty="0">
                <a:solidFill>
                  <a:schemeClr val="tx1">
                    <a:lumMod val="75000"/>
                    <a:lumOff val="25000"/>
                  </a:schemeClr>
                </a:solidFill>
                <a:latin typeface="Consolas" panose="020B0609020204030204" pitchFamily="49" charset="0"/>
              </a:rPr>
              <a:t>15</a:t>
            </a:r>
          </a:p>
          <a:p>
            <a:pPr algn="r"/>
            <a:r>
              <a:rPr lang="en-US" sz="1600" b="1" dirty="0">
                <a:solidFill>
                  <a:schemeClr val="tx1">
                    <a:lumMod val="75000"/>
                    <a:lumOff val="25000"/>
                  </a:schemeClr>
                </a:solidFill>
                <a:latin typeface="Consolas" panose="020B0609020204030204" pitchFamily="49" charset="0"/>
              </a:rPr>
              <a:t>16</a:t>
            </a:r>
          </a:p>
        </p:txBody>
      </p:sp>
    </p:spTree>
    <p:extLst>
      <p:ext uri="{BB962C8B-B14F-4D97-AF65-F5344CB8AC3E}">
        <p14:creationId xmlns:p14="http://schemas.microsoft.com/office/powerpoint/2010/main" val="2990613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 API (Cont.) (Delete by ID)</a:t>
            </a:r>
          </a:p>
        </p:txBody>
      </p:sp>
      <p:sp>
        <p:nvSpPr>
          <p:cNvPr id="4" name="Rectangle 3">
            <a:extLst>
              <a:ext uri="{FF2B5EF4-FFF2-40B4-BE49-F238E27FC236}">
                <a16:creationId xmlns:a16="http://schemas.microsoft.com/office/drawing/2014/main" id="{D456EBDA-49A4-A843-A786-6989C63A54AA}"/>
              </a:ext>
            </a:extLst>
          </p:cNvPr>
          <p:cNvSpPr/>
          <p:nvPr/>
        </p:nvSpPr>
        <p:spPr>
          <a:xfrm>
            <a:off x="579359" y="891527"/>
            <a:ext cx="9987999" cy="2800767"/>
          </a:xfrm>
          <a:prstGeom prst="rect">
            <a:avLst/>
          </a:prstGeom>
          <a:solidFill>
            <a:schemeClr val="bg1">
              <a:lumMod val="95000"/>
            </a:schemeClr>
          </a:solidFill>
          <a:ln>
            <a:noFill/>
          </a:ln>
        </p:spPr>
        <p:txBody>
          <a:bodyPr wrap="square">
            <a:spAutoFit/>
          </a:bodyPr>
          <a:lstStyle/>
          <a:p>
            <a:r>
              <a:rPr lang="en-US" sz="1600" dirty="0">
                <a:solidFill>
                  <a:srgbClr val="008000"/>
                </a:solidFill>
                <a:latin typeface="Consolas" panose="020B0609020204030204" pitchFamily="49" charset="0"/>
              </a:rPr>
              <a:t>// delete faculty by id</a:t>
            </a:r>
            <a:endParaRPr lang="en-US" sz="1600" dirty="0">
              <a:solidFill>
                <a:srgbClr val="0070C1"/>
              </a:solidFill>
              <a:latin typeface="Consolas" panose="020B0609020204030204" pitchFamily="49" charset="0"/>
            </a:endParaRPr>
          </a:p>
          <a:p>
            <a:r>
              <a:rPr lang="en-US" sz="1600" dirty="0" err="1">
                <a:solidFill>
                  <a:srgbClr val="0070C1"/>
                </a:solidFill>
                <a:latin typeface="Consolas" panose="020B0609020204030204" pitchFamily="49" charset="0"/>
              </a:rPr>
              <a:t>app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delete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'/faculties/:id'</a:t>
            </a:r>
            <a:r>
              <a:rPr lang="en-US" sz="1600" dirty="0">
                <a:solidFill>
                  <a:srgbClr val="000000"/>
                </a:solidFill>
                <a:latin typeface="Consolas" panose="020B0609020204030204" pitchFamily="49" charset="0"/>
              </a:rPr>
              <a:t>,</a:t>
            </a:r>
            <a:r>
              <a:rPr lang="en-US" sz="1600" dirty="0" err="1">
                <a:solidFill>
                  <a:srgbClr val="0000FF"/>
                </a:solidFill>
                <a:latin typeface="Consolas" panose="020B0609020204030204" pitchFamily="49" charset="0"/>
              </a:rPr>
              <a:t>async</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try</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faculty</a:t>
            </a:r>
            <a:r>
              <a:rPr lang="en-US" sz="1600" dirty="0">
                <a:solidFill>
                  <a:srgbClr val="000000"/>
                </a:solidFill>
                <a:latin typeface="Consolas" panose="020B0609020204030204" pitchFamily="49" charset="0"/>
              </a:rPr>
              <a:t> = </a:t>
            </a:r>
            <a:r>
              <a:rPr lang="en-US" sz="1600" dirty="0">
                <a:solidFill>
                  <a:srgbClr val="AF00DB"/>
                </a:solidFill>
                <a:latin typeface="Consolas" panose="020B0609020204030204" pitchFamily="49" charset="0"/>
              </a:rPr>
              <a:t>await</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findOne</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FacultyID:req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params</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id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await</a:t>
            </a:r>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faculty</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delete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a:t>
            </a:r>
            <a:r>
              <a:rPr lang="en-US" sz="1600" dirty="0">
                <a:solidFill>
                  <a:srgbClr val="0070C1"/>
                </a:solidFill>
                <a:latin typeface="Consolas" panose="020B0609020204030204" pitchFamily="49" charset="0"/>
              </a:rPr>
              <a:t>faculty</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 </a:t>
            </a:r>
            <a:r>
              <a:rPr lang="en-US" sz="1600" dirty="0">
                <a:solidFill>
                  <a:srgbClr val="AF00DB"/>
                </a:solidFill>
                <a:latin typeface="Consolas" panose="020B0609020204030204" pitchFamily="49" charset="0"/>
              </a:rPr>
              <a:t>catch</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status</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404</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send</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error:</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"Faculty doesn't exist!"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79366" y="891527"/>
            <a:ext cx="499993" cy="280076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p:txBody>
      </p:sp>
    </p:spTree>
    <p:extLst>
      <p:ext uri="{BB962C8B-B14F-4D97-AF65-F5344CB8AC3E}">
        <p14:creationId xmlns:p14="http://schemas.microsoft.com/office/powerpoint/2010/main" val="949308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References</a:t>
            </a:r>
            <a:endParaRPr lang="en-US" dirty="0"/>
          </a:p>
        </p:txBody>
      </p:sp>
      <p:sp>
        <p:nvSpPr>
          <p:cNvPr id="3" name="Content Placeholder 2"/>
          <p:cNvSpPr>
            <a:spLocks noGrp="1"/>
          </p:cNvSpPr>
          <p:nvPr>
            <p:ph idx="1"/>
          </p:nvPr>
        </p:nvSpPr>
        <p:spPr/>
        <p:txBody>
          <a:bodyPr/>
          <a:lstStyle/>
          <a:p>
            <a:r>
              <a:rPr lang="en-US" altLang="en-US" dirty="0"/>
              <a:t>Node.js the Right Way, Jim R. Wilson, The </a:t>
            </a:r>
            <a:r>
              <a:rPr lang="en-US" altLang="en-US" dirty="0" err="1"/>
              <a:t>Programatic</a:t>
            </a:r>
            <a:r>
              <a:rPr lang="en-US" altLang="en-US" dirty="0"/>
              <a:t> Bookshelf, ISBN 978-1-937785-73-4</a:t>
            </a:r>
          </a:p>
          <a:p>
            <a:r>
              <a:rPr lang="en-US" altLang="en-US" dirty="0" err="1"/>
              <a:t>NodeJS</a:t>
            </a:r>
            <a:r>
              <a:rPr lang="en-US" altLang="en-US" dirty="0"/>
              <a:t>: Practical Guide for Beginners, Matthew </a:t>
            </a:r>
            <a:r>
              <a:rPr lang="en-US" altLang="en-US" dirty="0" err="1"/>
              <a:t>Gimson</a:t>
            </a:r>
            <a:r>
              <a:rPr lang="en-US" altLang="en-US" dirty="0"/>
              <a:t>, ISBN 978-1-519354-07-5</a:t>
            </a:r>
          </a:p>
          <a:p>
            <a:r>
              <a:rPr lang="en-US" altLang="en-US" dirty="0"/>
              <a:t>Express.js: Node.js Framework for Web Application Development, Daniel Green, ISBN 978-1-530204-06-9</a:t>
            </a:r>
          </a:p>
          <a:p>
            <a:r>
              <a:rPr lang="en-US" altLang="en-US" dirty="0"/>
              <a:t>Express.com</a:t>
            </a:r>
          </a:p>
          <a:p>
            <a:r>
              <a:rPr lang="en-US" altLang="en-US" dirty="0" err="1"/>
              <a:t>GeeksForGeeks</a:t>
            </a:r>
            <a:endParaRPr lang="en-US" altLang="en-US" dirty="0"/>
          </a:p>
          <a:p>
            <a:r>
              <a:rPr lang="en-US" altLang="en-US" dirty="0"/>
              <a:t>Tutorials Point</a:t>
            </a:r>
          </a:p>
          <a:p>
            <a:r>
              <a:rPr lang="en-US" altLang="en-US" dirty="0"/>
              <a:t>The Node Beginner Book, Manuel </a:t>
            </a:r>
            <a:r>
              <a:rPr lang="en-US" altLang="en-US" dirty="0" err="1"/>
              <a:t>Kiessling</a:t>
            </a:r>
            <a:r>
              <a:rPr lang="en-US" altLang="en-US" dirty="0"/>
              <a:t>, </a:t>
            </a:r>
            <a:r>
              <a:rPr lang="en-US" altLang="en-US" dirty="0" err="1"/>
              <a:t>Leanpub</a:t>
            </a:r>
            <a:r>
              <a:rPr lang="en-US" altLang="en-US" dirty="0"/>
              <a:t>. </a:t>
            </a:r>
          </a:p>
          <a:p>
            <a:endParaRPr lang="en-US" dirty="0"/>
          </a:p>
        </p:txBody>
      </p:sp>
    </p:spTree>
    <p:extLst>
      <p:ext uri="{BB962C8B-B14F-4D97-AF65-F5344CB8AC3E}">
        <p14:creationId xmlns:p14="http://schemas.microsoft.com/office/powerpoint/2010/main" val="42726034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a:t>samir.kariya@darshan.ac.in</a:t>
            </a:r>
            <a:endParaRPr lang="en-US" dirty="0"/>
          </a:p>
        </p:txBody>
      </p:sp>
      <p:sp>
        <p:nvSpPr>
          <p:cNvPr id="3" name="Text Placeholder 2"/>
          <p:cNvSpPr>
            <a:spLocks noGrp="1"/>
          </p:cNvSpPr>
          <p:nvPr>
            <p:ph type="body" sz="quarter" idx="12"/>
          </p:nvPr>
        </p:nvSpPr>
        <p:spPr/>
        <p:txBody>
          <a:bodyPr/>
          <a:lstStyle/>
          <a:p>
            <a:r>
              <a:rPr lang="en-IN" dirty="0"/>
              <a:t>9427148490</a:t>
            </a:r>
            <a:endParaRPr lang="en-US" dirty="0"/>
          </a:p>
        </p:txBody>
      </p:sp>
      <p:sp>
        <p:nvSpPr>
          <p:cNvPr id="4" name="Text Placeholder 3"/>
          <p:cNvSpPr>
            <a:spLocks noGrp="1"/>
          </p:cNvSpPr>
          <p:nvPr>
            <p:ph type="body" sz="quarter" idx="13"/>
          </p:nvPr>
        </p:nvSpPr>
        <p:spPr/>
        <p:txBody>
          <a:bodyPr/>
          <a:lstStyle/>
          <a:p>
            <a:r>
              <a:rPr lang="en-IN" dirty="0"/>
              <a:t>Computer Engineering Department</a:t>
            </a:r>
            <a:endParaRPr lang="en-US" dirty="0"/>
          </a:p>
        </p:txBody>
      </p:sp>
      <p:sp>
        <p:nvSpPr>
          <p:cNvPr id="5" name="Text Placeholder 4"/>
          <p:cNvSpPr>
            <a:spLocks noGrp="1"/>
          </p:cNvSpPr>
          <p:nvPr>
            <p:ph type="body" sz="quarter" idx="14"/>
          </p:nvPr>
        </p:nvSpPr>
        <p:spPr/>
        <p:txBody>
          <a:bodyPr/>
          <a:lstStyle/>
          <a:p>
            <a:r>
              <a:rPr lang="en-IN" dirty="0"/>
              <a:t>Prof. Samir R. Kariya</a:t>
            </a:r>
            <a:endParaRPr lang="en-US" dirty="0"/>
          </a:p>
        </p:txBody>
      </p:sp>
      <p:sp>
        <p:nvSpPr>
          <p:cNvPr id="6" name="Text Placeholder 5"/>
          <p:cNvSpPr>
            <a:spLocks noGrp="1"/>
          </p:cNvSpPr>
          <p:nvPr>
            <p:ph type="body" sz="quarter" idx="16"/>
          </p:nvPr>
        </p:nvSpPr>
        <p:spPr/>
        <p:txBody>
          <a:bodyPr/>
          <a:lstStyle/>
          <a:p>
            <a:r>
              <a:rPr lang="en-IN" dirty="0"/>
              <a:t>Web Technology – II (WT-II)</a:t>
            </a:r>
          </a:p>
          <a:p>
            <a:r>
              <a:rPr lang="en-US" dirty="0"/>
              <a:t>2401CS491</a:t>
            </a:r>
          </a:p>
        </p:txBody>
      </p:sp>
      <p:sp>
        <p:nvSpPr>
          <p:cNvPr id="9" name="Picture Placeholder 8">
            <a:extLst>
              <a:ext uri="{FF2B5EF4-FFF2-40B4-BE49-F238E27FC236}">
                <a16:creationId xmlns:a16="http://schemas.microsoft.com/office/drawing/2014/main" id="{A014B5AE-A1AB-45EE-6C75-001200DC71F9}"/>
              </a:ext>
            </a:extLst>
          </p:cNvPr>
          <p:cNvSpPr>
            <a:spLocks noGrp="1"/>
          </p:cNvSpPr>
          <p:nvPr>
            <p:ph type="pic" sz="quarter" idx="10"/>
          </p:nvPr>
        </p:nvSpPr>
        <p:spPr/>
      </p:sp>
      <p:pic>
        <p:nvPicPr>
          <p:cNvPr id="10" name="Picture 9">
            <a:extLst>
              <a:ext uri="{FF2B5EF4-FFF2-40B4-BE49-F238E27FC236}">
                <a16:creationId xmlns:a16="http://schemas.microsoft.com/office/drawing/2014/main" id="{5B8115CD-4EFB-481A-7429-66301E134E07}"/>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3453148"/>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6744</TotalTime>
  <Words>1628</Words>
  <Application>Microsoft Office PowerPoint</Application>
  <PresentationFormat>Widescreen</PresentationFormat>
  <Paragraphs>640</Paragraphs>
  <Slides>41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41</vt:i4>
      </vt:variant>
    </vt:vector>
  </HeadingPairs>
  <TitlesOfParts>
    <vt:vector size="53" baseType="lpstr">
      <vt:lpstr>Roboto Condensed</vt:lpstr>
      <vt:lpstr>Wingdings 3</vt:lpstr>
      <vt:lpstr>Wingdings 2</vt:lpstr>
      <vt:lpstr>Courier New</vt:lpstr>
      <vt:lpstr>Roboto Condensed Light</vt:lpstr>
      <vt:lpstr>Segoe UI Black</vt:lpstr>
      <vt:lpstr>Arial Unicode MS</vt:lpstr>
      <vt:lpstr>Wingdings</vt:lpstr>
      <vt:lpstr>Calibri</vt:lpstr>
      <vt:lpstr>Consolas</vt:lpstr>
      <vt:lpstr>Arial</vt:lpstr>
      <vt:lpstr>Office Theme</vt:lpstr>
      <vt:lpstr>Unit-02  ExpressJS</vt:lpstr>
      <vt:lpstr>PowerPoint Presentation</vt:lpstr>
      <vt:lpstr>ExpressJS</vt:lpstr>
      <vt:lpstr>First web app with Express</vt:lpstr>
      <vt:lpstr>Basic Routing</vt:lpstr>
      <vt:lpstr>Route methods</vt:lpstr>
      <vt:lpstr>Route methods (Cont.)</vt:lpstr>
      <vt:lpstr>Route paths</vt:lpstr>
      <vt:lpstr>Route paths</vt:lpstr>
      <vt:lpstr>Route Parameters</vt:lpstr>
      <vt:lpstr>Route Parameters (Cont.)</vt:lpstr>
      <vt:lpstr>Route Handlers </vt:lpstr>
      <vt:lpstr>Route Handlers (Cont.)</vt:lpstr>
      <vt:lpstr>Response Methods</vt:lpstr>
      <vt:lpstr>Express Middleware</vt:lpstr>
      <vt:lpstr>Express Middleware (Cont.)</vt:lpstr>
      <vt:lpstr>app.use() method</vt:lpstr>
      <vt:lpstr>app.use() method (Cont.)</vt:lpstr>
      <vt:lpstr>Using Middleware</vt:lpstr>
      <vt:lpstr>Application-level Middleware</vt:lpstr>
      <vt:lpstr>Application-level Middleware (Cont.)</vt:lpstr>
      <vt:lpstr>Application-level Middleware (Cont.)</vt:lpstr>
      <vt:lpstr>Application-level Middleware (Cont.)</vt:lpstr>
      <vt:lpstr>Express Routers</vt:lpstr>
      <vt:lpstr>Express Routers (Cont.)</vt:lpstr>
      <vt:lpstr>Router Methods</vt:lpstr>
      <vt:lpstr>Router Methods</vt:lpstr>
      <vt:lpstr>Router Methods (Cont.)</vt:lpstr>
      <vt:lpstr>Router Methods (Cont.)</vt:lpstr>
      <vt:lpstr>Router-level Middleware</vt:lpstr>
      <vt:lpstr>Built-in Middleware</vt:lpstr>
      <vt:lpstr>Built-in Middleware (Cont.)</vt:lpstr>
      <vt:lpstr>Serving Static files in Express</vt:lpstr>
      <vt:lpstr>Serving Static files in Express (Cont.)</vt:lpstr>
      <vt:lpstr>Creating REST API using Node, Express and MongoDB</vt:lpstr>
      <vt:lpstr>Rest API (Cont.)</vt:lpstr>
      <vt:lpstr>Rest API (Cont.) (getAll, getByID and insert)</vt:lpstr>
      <vt:lpstr>Rest API (Cont.) (Update by ID)</vt:lpstr>
      <vt:lpstr>Rest API (Cont.) (Delete by ID)</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888</cp:revision>
  <dcterms:created xsi:type="dcterms:W3CDTF">2020-05-01T05:09:15Z</dcterms:created>
  <dcterms:modified xsi:type="dcterms:W3CDTF">2026-01-27T10:08:28Z</dcterms:modified>
</cp:coreProperties>
</file>